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e96b6655-3e4e-39f5-80c9-2b63bc132a5c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Engineering" id="{c39fce1e-0a0b-be78-fe84-102dc9a52917}">
          <p14:sldIdLst>
            <p14:sldId id="262"/>
            <p14:sldId id="263"/>
            <p14:sldId id="264"/>
          </p14:sldIdLst>
        </p14:section>
        <p14:section name="Pipeline" id="{1fb438e3-53d3-700f-df93-7b6681bf7b08}">
          <p14:sldIdLst>
            <p14:sldId id="265"/>
            <p14:sldId id="266"/>
            <p14:sldId id="267"/>
            <p14:sldId id="268"/>
          </p14:sldIdLst>
        </p14:section>
        <p14:section name="Platform" id="{04d863df-b100-3f2d-6d08-505379bafccb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Lessons" id="{93ddcc9d-37b5-116f-f8d2-8fee1282814e}">
          <p14:sldIdLst>
            <p14:sldId id="275"/>
            <p14:sldId id="276"/>
            <p14:sldId id="27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running app. One sentence on what ServiceDesk is, then note the domain is my own and the DevOps architecture follows the course reference, which the brief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ticket live here, change its status, and point at the counters moving.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two tables: a flat table makes Alembic trivial and proves nothing. The FK gives a real constraint and a real migration.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table out. Point at stats and at the 409 on duplicate categories, which is the one people ask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browser captures of the running application, not mockups.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500px caveat is honest and worth saying: Chrome clamps window width, so there is no true 390px capture.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map so the grader knows what is coming. Detail lands on the slides after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pytest live, then open conftest.py and explain the refusal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docker compose ps, then the id command against the published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here. This is the strongest single piece of evidence in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red run, show the skipped jobs, then switch to the registry and show nothing exists for that SHA.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tag list. The absence of latest is the detail worth naming.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empty ignore file. A suppression would have scored the same and been worse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a pod live, watch it return, then refresh the console to show the data survived.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lesson is the headline: a chart can lint clean and still be wired to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 dashboard open and send traffic so the request-rate panel moves while you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moving-counter proof is the one worth saying out loud: a static scrape proves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rush or apologise. Stating the limit precisely, with the control evidence, is worth more than hand-waving.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slide. Skip it if time is short — the rubric never asked for public hosting.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part that shows judgement rather than box-ticking. Take your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 that the stricter environment acted as a free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what I would do differently: an advisory lock around the migration so two replicas cannot race on a cold database, and a real AWS account to finish the EKS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868680" y="3703320"/>
            <a:ext cx="10515600" cy="146304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700" dirty="0">
                <a:solidFill>
                  <a:srgbClr val="CBD5E1"/>
                </a:solidFill>
              </a:defRPr>
            </a:lvl1pPr>
          </a:lstStyle>
          <a:p>
            <a:pPr marL="0" indent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DIVIDER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868680" y="3749040"/>
            <a:ext cx="10515600" cy="91440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CBD5E1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ServiceDesk  ·  DevOps Capstone  ·  Aman Yadav</a:t>
            </a:r>
            <a:endParaRPr lang="en-US" sz="1000" dirty="0"/>
          </a:p>
        </p:txBody>
      </p:sp>
      <p:sp>
        <p:nvSpPr>
          <p:cNvPr id="4" name="Text 1"/>
          <p:cNvSpPr/>
          <p:nvPr>
            <p:ph type="body" idx="102" hasCustomPrompt="1"/>
          </p:nvPr>
        </p:nvSpPr>
        <p:spPr>
          <a:xfrm>
            <a:off x="640080" y="1280160"/>
            <a:ext cx="10972800" cy="484632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TITLE_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ServiceDesk  ·  DevOps Capstone  ·  Aman Yadav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ServiceDesk</a:t>
            </a:r>
            <a:endParaRPr lang="en-US" sz="48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868680" y="3703320"/>
            <a:ext cx="10515600" cy="14630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1700" dirty="0">
                <a:solidFill>
                  <a:srgbClr val="CBD5E1"/>
                </a:solidFill>
              </a:rPr>
              <a:t>A help desk ticketing platform, shipped through a complete DevOps pipeline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CBD5E1"/>
                </a:solidFill>
              </a:rPr>
              <a:t>Aman Yadav  ·  24bcs10183  ·  2nd Year  ·  Batch A</a:t>
            </a:r>
            <a:endParaRPr lang="en-US" sz="1700" dirty="0"/>
          </a:p>
        </p:txBody>
      </p:sp>
      <p:sp>
        <p:nvSpPr>
          <p:cNvPr id="4" name="kick"/>
          <p:cNvSpPr/>
          <p:nvPr/>
        </p:nvSpPr>
        <p:spPr>
          <a:xfrm>
            <a:off x="868680" y="160020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F172A"/>
                </a:solidFill>
              </a:rPr>
              <a:t>SESSION 21 CAPSTONE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the application does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5577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</a:rPr>
              <a:t>A support team lives and dies by two questions.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</a:rPr>
              <a:t>What is open right now, and what is about to breach its SLA.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03120"/>
            <a:ext cx="548640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ticket is raised against a category, given a severity and a requester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It is assigned to someone and moves through OPEN, PENDING, RESOLVED, CLOSED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From creation it carries an SLA deadline twenty-four hours out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stats endpoint rolls the whole board into one response, which the console header and the Grafana dashboard both read</a:t>
            </a:r>
            <a:endParaRPr lang="en-US" sz="1300" dirty="0"/>
          </a:p>
        </p:txBody>
      </p:sp>
      <p:sp>
        <p:nvSpPr>
          <p:cNvPr id="5" name="card-0.7-4.9"/>
          <p:cNvSpPr/>
          <p:nvPr/>
        </p:nvSpPr>
        <p:spPr>
          <a:xfrm>
            <a:off x="640080" y="448056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4645152"/>
            <a:ext cx="1463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</a:rPr>
              <a:t>11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34924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API ENDPOINTS</a:t>
            </a:r>
            <a:endParaRPr lang="en-US" sz="1100" dirty="0"/>
          </a:p>
        </p:txBody>
      </p:sp>
      <p:sp>
        <p:nvSpPr>
          <p:cNvPr id="8" name="card-2.75-4.9"/>
          <p:cNvSpPr/>
          <p:nvPr/>
        </p:nvSpPr>
        <p:spPr>
          <a:xfrm>
            <a:off x="2514600" y="448056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4645152"/>
            <a:ext cx="1463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</a:rPr>
              <a:t>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534924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TABLES + FK</a:t>
            </a:r>
            <a:endParaRPr lang="en-US" sz="1100" dirty="0"/>
          </a:p>
        </p:txBody>
      </p:sp>
      <p:sp>
        <p:nvSpPr>
          <p:cNvPr id="11" name="card-4.8-4.9"/>
          <p:cNvSpPr/>
          <p:nvPr/>
        </p:nvSpPr>
        <p:spPr>
          <a:xfrm>
            <a:off x="4389120" y="448056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4645152"/>
            <a:ext cx="15544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C55E"/>
                </a:solidFill>
              </a:rPr>
              <a:t>40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5349240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TESTS</a:t>
            </a:r>
            <a:endParaRPr lang="en-US" sz="1100" dirty="0"/>
          </a:p>
        </p:txBody>
      </p:sp>
      <p:pic>
        <p:nvPicPr>
          <p:cNvPr id="14" name="Image 0" descr="/Users/aman/Desktop/devops-heros/helpdesk-capstone/docs/screenshots/kubernetes-ingress-app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188720"/>
            <a:ext cx="5120640" cy="270662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492240" y="3968496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The operator console, served through the Kubernetes Ingress</a:t>
            </a:r>
            <a:endParaRPr lang="en-US" sz="1000" dirty="0"/>
          </a:p>
        </p:txBody>
      </p:sp>
      <p:pic>
        <p:nvPicPr>
          <p:cNvPr id="16" name="Image 1" descr="/Users/aman/Desktop/devops-heros/helpdesk-capstone/docs/screenshots/servicedesk-filter-sla-breach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4343400"/>
            <a:ext cx="5120640" cy="18288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492240" y="62179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Filter chips carry live counts and narrow the queue without a reload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The data model, and why it has two tables</a:t>
            </a:r>
            <a:endParaRPr lang="en-US" sz="3400" dirty="0"/>
          </a:p>
        </p:txBody>
      </p:sp>
      <p:sp>
        <p:nvSpPr>
          <p:cNvPr id="3" name="card-0.7-1.35"/>
          <p:cNvSpPr/>
          <p:nvPr/>
        </p:nvSpPr>
        <p:spPr>
          <a:xfrm>
            <a:off x="640080" y="12344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8988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Ticket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76910" y="1737360"/>
            <a:ext cx="534797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id · subject · description · severity · status · requester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assignee · category_id → categories.id · created_at · sla_due_at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0604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severity LOW · MEDIUM · HIGH · URGENT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status OPEN · PENDING · RESOLVED · CLOSED</a:t>
            </a:r>
            <a:endParaRPr lang="en-US" sz="1200" dirty="0"/>
          </a:p>
        </p:txBody>
      </p:sp>
      <p:sp>
        <p:nvSpPr>
          <p:cNvPr id="7" name="card-6.85-1.35"/>
          <p:cNvSpPr/>
          <p:nvPr/>
        </p:nvSpPr>
        <p:spPr>
          <a:xfrm>
            <a:off x="6263640" y="123444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38988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Category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7373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id · name (unique) · description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148840"/>
            <a:ext cx="48463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Seeded with Hardware, Software, Access and Network by the second Alembic revision, so a fresh database is usable immediately.</a:t>
            </a:r>
            <a:endParaRPr lang="en-US" sz="1200" dirty="0"/>
          </a:p>
        </p:txBody>
      </p:sp>
      <p:sp>
        <p:nvSpPr>
          <p:cNvPr id="11" name="card-0.7-4.05"/>
          <p:cNvSpPr/>
          <p:nvPr/>
        </p:nvSpPr>
        <p:spPr>
          <a:xfrm>
            <a:off x="640080" y="3703320"/>
            <a:ext cx="1097280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88620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foreign key is the point, not decoration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297680"/>
            <a:ext cx="104241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CBD5E1"/>
                </a:solidFill>
              </a:rPr>
              <a:t>A single flat table would have needed one trivial migration. Two related tables forced a real one, with a constraint the database actually enforces — an insert naming a category that does not exist is rejected by PostgreSQL, not by application code.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CBD5E1"/>
                </a:solidFill>
              </a:rPr>
              <a:t>Proven by running the downgrade with a ticket already referencing a seeded category: the first version threw ForeignKeyViolation, which is exactly the bug a migration written without data would hide.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The API surface</a:t>
            </a:r>
            <a:endParaRPr lang="en-US" sz="3400" dirty="0"/>
          </a:p>
        </p:txBody>
      </p:sp>
      <p:sp>
        <p:nvSpPr>
          <p:cNvPr id="3" name="r0"/>
          <p:cNvSpPr/>
          <p:nvPr/>
        </p:nvSpPr>
        <p:spPr>
          <a:xfrm>
            <a:off x="640080" y="1188720"/>
            <a:ext cx="109728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271016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GET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27101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/health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271016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liveness, no database touched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1271016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2xx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7007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GET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170078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/ready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700784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readiness, runs a query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0" y="1700784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2xx</a:t>
            </a:r>
            <a:endParaRPr lang="en-US" sz="1100" dirty="0"/>
          </a:p>
        </p:txBody>
      </p:sp>
      <p:sp>
        <p:nvSpPr>
          <p:cNvPr id="12" name="r2"/>
          <p:cNvSpPr/>
          <p:nvPr/>
        </p:nvSpPr>
        <p:spPr>
          <a:xfrm>
            <a:off x="640080" y="2048256"/>
            <a:ext cx="109728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130552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GET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213055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/metrics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13055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Prometheus exposition format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0" y="2130552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2xx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256032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GET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256032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/api/tickets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560320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list, newest first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0" y="256032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200</a:t>
            </a:r>
            <a:endParaRPr lang="en-US" sz="1100" dirty="0"/>
          </a:p>
        </p:txBody>
      </p:sp>
      <p:sp>
        <p:nvSpPr>
          <p:cNvPr id="21" name="r4"/>
          <p:cNvSpPr/>
          <p:nvPr/>
        </p:nvSpPr>
        <p:spPr>
          <a:xfrm>
            <a:off x="640080" y="2907792"/>
            <a:ext cx="109728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2990088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A4"/>
                </a:solidFill>
              </a:rPr>
              <a:t>POST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299008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/api/tickets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2990088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create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149840" y="299008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201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3419856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GET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737360" y="341985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/api/tickets/{id}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0" y="3419856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read one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149840" y="3419856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200 / 404</a:t>
            </a:r>
            <a:endParaRPr lang="en-US" sz="1100" dirty="0"/>
          </a:p>
        </p:txBody>
      </p:sp>
      <p:sp>
        <p:nvSpPr>
          <p:cNvPr id="30" name="r6"/>
          <p:cNvSpPr/>
          <p:nvPr/>
        </p:nvSpPr>
        <p:spPr>
          <a:xfrm>
            <a:off x="640080" y="3767328"/>
            <a:ext cx="109728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384962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A4"/>
                </a:solidFill>
              </a:rPr>
              <a:t>PUT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737360" y="384962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/api/tickets/{id}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0" y="3849624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partial update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149840" y="3849624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200 / 404 / 422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4279392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DELETE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737360" y="427939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/api/tickets/{id}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0" y="427939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remove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149840" y="4279392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204 / 404</a:t>
            </a:r>
            <a:endParaRPr lang="en-US" sz="1100" dirty="0"/>
          </a:p>
        </p:txBody>
      </p:sp>
      <p:sp>
        <p:nvSpPr>
          <p:cNvPr id="39" name="r8"/>
          <p:cNvSpPr/>
          <p:nvPr/>
        </p:nvSpPr>
        <p:spPr>
          <a:xfrm>
            <a:off x="640080" y="4626864"/>
            <a:ext cx="109728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2960" y="470916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GET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737360" y="470916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/api/tickets/stats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029200" y="4709160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counts by status plus SLA breaches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0" y="470916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200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822960" y="5138928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GET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737360" y="513892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/api/categories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029200" y="5138928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list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0" y="513892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200</a:t>
            </a:r>
            <a:endParaRPr lang="en-US" sz="1100" dirty="0"/>
          </a:p>
        </p:txBody>
      </p:sp>
      <p:sp>
        <p:nvSpPr>
          <p:cNvPr id="48" name="r10"/>
          <p:cNvSpPr/>
          <p:nvPr/>
        </p:nvSpPr>
        <p:spPr>
          <a:xfrm>
            <a:off x="640080" y="5486400"/>
            <a:ext cx="109728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22960" y="5568696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A4"/>
                </a:solidFill>
              </a:rPr>
              <a:t>POST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1737360" y="556869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/api/categories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5029200" y="5568696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create, rejects duplicates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0" y="5568696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201 / 409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Every status code listed is exercised by the test suite and verified by curl against the running cluster</a:t>
            </a:r>
            <a:endParaRPr lang="en-US" sz="10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The console in use</a:t>
            </a:r>
            <a:endParaRPr lang="en-US" sz="3400" dirty="0"/>
          </a:p>
        </p:txBody>
      </p:sp>
      <p:pic>
        <p:nvPicPr>
          <p:cNvPr id="3" name="Image 0" descr="/Users/aman/Desktop/devops-heros/helpdesk-capstone/docs/screenshots/servicedesk-new-ticket-form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3520440" cy="18562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15468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Raising a ticket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456432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Category and severity come from the API, not a hardcoded list</a:t>
            </a:r>
            <a:endParaRPr lang="en-US" sz="1100" dirty="0"/>
          </a:p>
        </p:txBody>
      </p:sp>
      <p:pic>
        <p:nvPicPr>
          <p:cNvPr id="6" name="Image 1" descr="/Users/aman/Desktop/devops-heros/helpdesk-capstone/docs/screenshots/servicedesk-ticket-crea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188720"/>
            <a:ext cx="3520440" cy="18562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389120" y="315468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It lands in the queue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389120" y="3456432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Written to PostgreSQL and read back, with the SLA clock already running</a:t>
            </a:r>
            <a:endParaRPr lang="en-US" sz="1100" dirty="0"/>
          </a:p>
        </p:txBody>
      </p:sp>
      <p:pic>
        <p:nvPicPr>
          <p:cNvPr id="9" name="Image 2" descr="/Users/aman/Desktop/devops-heros/helpdesk-capstone/docs/screenshots/servicedesk-filter-sla-breach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188720"/>
            <a:ext cx="3520440" cy="185623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138160" y="315468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Filtering the board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8138160" y="3456432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Chips carry live counts so a breach is one click away</a:t>
            </a:r>
            <a:endParaRPr lang="en-US" sz="1100" dirty="0"/>
          </a:p>
        </p:txBody>
      </p:sp>
      <p:sp>
        <p:nvSpPr>
          <p:cNvPr id="12" name="card-0.7-4.75"/>
          <p:cNvSpPr/>
          <p:nvPr/>
        </p:nvSpPr>
        <p:spPr>
          <a:xfrm>
            <a:off x="640080" y="434340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14400" y="4498848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React 19 with TypeScript, built by Vite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914400" y="4846320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Inline editing on every row — status, severity, category and assignee each PUT straight to the API and the stats bar recomputes from the response. Error and success banners cover the failure paths rather than failing silently.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Responsive at three widths</a:t>
            </a:r>
            <a:endParaRPr lang="en-US" sz="3400" dirty="0"/>
          </a:p>
        </p:txBody>
      </p:sp>
      <p:pic>
        <p:nvPicPr>
          <p:cNvPr id="3" name="Image 0" descr="/Users/aman/Desktop/devops-heros/helpdesk-capstone/docs/screenshots/servicedesk-queue-deskt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88720"/>
            <a:ext cx="3291840" cy="3429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47091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Desktop · 1440px</a:t>
            </a:r>
            <a:endParaRPr lang="en-US" sz="1200" dirty="0"/>
          </a:p>
        </p:txBody>
      </p:sp>
      <p:pic>
        <p:nvPicPr>
          <p:cNvPr id="5" name="Image 1" descr="/Users/aman/Desktop/devops-heros/helpdesk-capstone/docs/screenshots/servicedesk-queue-tab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2011680" cy="309067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754880" y="437083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Tablet · 834px</a:t>
            </a:r>
            <a:endParaRPr lang="en-US" sz="1200" dirty="0"/>
          </a:p>
        </p:txBody>
      </p:sp>
      <p:pic>
        <p:nvPicPr>
          <p:cNvPr id="7" name="Image 2" descr="/Users/aman/Desktop/devops-heros/helpdesk-capstone/docs/screenshots/servicedesk-queue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188720"/>
            <a:ext cx="1234440" cy="37033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680960" y="498348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Phone · 500px</a:t>
            </a:r>
            <a:endParaRPr lang="en-US" sz="1200" dirty="0"/>
          </a:p>
        </p:txBody>
      </p:sp>
      <p:sp>
        <p:nvSpPr>
          <p:cNvPr id="9" name="card-10.1-1.3"/>
          <p:cNvSpPr/>
          <p:nvPr/>
        </p:nvSpPr>
        <p:spPr>
          <a:xfrm>
            <a:off x="9235440" y="1188720"/>
            <a:ext cx="2377440" cy="301752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9464040" y="135331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Breakpoints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9464040" y="1691640"/>
            <a:ext cx="201168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1000px and 640px.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Below 640 the row grid collapses to stacked fields so nothing overflows horizontally.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The narrow capture is 500px because Chrome on macOS will not render a window narrower than that.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822960" y="539496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The rubric asks for a responsive, usable UI — these are the same page at three viewport widths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How a change reaches the cluster</a:t>
            </a:r>
            <a:endParaRPr lang="en-US" sz="3400" dirty="0"/>
          </a:p>
        </p:txBody>
      </p:sp>
      <p:sp>
        <p:nvSpPr>
          <p:cNvPr id="3" name="card-0.7-1.45"/>
          <p:cNvSpPr/>
          <p:nvPr/>
        </p:nvSpPr>
        <p:spPr>
          <a:xfrm>
            <a:off x="640080" y="132588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435608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A4"/>
                </a:solidFill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71907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Commit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2996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push to main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173736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card-2.7699999999999996-1.45"/>
          <p:cNvSpPr/>
          <p:nvPr/>
        </p:nvSpPr>
        <p:spPr>
          <a:xfrm>
            <a:off x="2532888" y="132588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42616" y="1435608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A4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642616" y="171907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42616" y="202996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pytest gates all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233672" y="173736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card-4.84-1.45"/>
          <p:cNvSpPr/>
          <p:nvPr/>
        </p:nvSpPr>
        <p:spPr>
          <a:xfrm>
            <a:off x="4425696" y="132588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35424" y="1435608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A4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35424" y="171907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Build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35424" y="202996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two images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173736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card-6.909999999999999-1.45"/>
          <p:cNvSpPr/>
          <p:nvPr/>
        </p:nvSpPr>
        <p:spPr>
          <a:xfrm>
            <a:off x="6318504" y="132588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28232" y="1435608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28232" y="171907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Scan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28232" y="202996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Trivy, HIGH fails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019288" y="173736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card-8.979999999999999-1.45"/>
          <p:cNvSpPr/>
          <p:nvPr/>
        </p:nvSpPr>
        <p:spPr>
          <a:xfrm>
            <a:off x="8211312" y="132588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1040" y="1435608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A4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171907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Publish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202996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GHCR, SHA tag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912096" y="173736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card-11.049999999999999-1.45"/>
          <p:cNvSpPr/>
          <p:nvPr/>
        </p:nvSpPr>
        <p:spPr>
          <a:xfrm>
            <a:off x="10104120" y="132588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213848" y="1435608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A4"/>
                </a:solidFill>
              </a:rPr>
              <a:t>6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213848" y="171907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Deploy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213848" y="2029968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helm upgrade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27889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Nothing in that chain is manual except the final upgrade, and nothing skips a step</a:t>
            </a:r>
            <a:endParaRPr lang="en-US" sz="1300" dirty="0"/>
          </a:p>
        </p:txBody>
      </p:sp>
      <p:sp>
        <p:nvSpPr>
          <p:cNvPr id="33" name="card-0.7-3.5"/>
          <p:cNvSpPr/>
          <p:nvPr/>
        </p:nvSpPr>
        <p:spPr>
          <a:xfrm>
            <a:off x="640080" y="32004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dot-0.8999999999999999-3.72"/>
          <p:cNvSpPr/>
          <p:nvPr/>
        </p:nvSpPr>
        <p:spPr>
          <a:xfrm>
            <a:off x="822960" y="3401568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207008" y="337413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Infrastructure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3767328"/>
            <a:ext cx="315468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Terraform describes a VPC, four subnets across two availability zones, security groups and an EKS cluster. Applied against an emulator, never real AWS — stated plainly on its own slide.</a:t>
            </a:r>
            <a:endParaRPr lang="en-US" sz="1100" dirty="0"/>
          </a:p>
        </p:txBody>
      </p:sp>
      <p:sp>
        <p:nvSpPr>
          <p:cNvPr id="37" name="card-4.8-3.5"/>
          <p:cNvSpPr/>
          <p:nvPr/>
        </p:nvSpPr>
        <p:spPr>
          <a:xfrm>
            <a:off x="4389120" y="32004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dot-5-3.72"/>
          <p:cNvSpPr/>
          <p:nvPr/>
        </p:nvSpPr>
        <p:spPr>
          <a:xfrm>
            <a:off x="4572000" y="3401568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956048" y="337413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Orchestration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0" y="3767328"/>
            <a:ext cx="315468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One Helm chart with three environment overlays. Thirteen revisions covering install, scale, a failed upgrade, rollback and image swaps.</a:t>
            </a:r>
            <a:endParaRPr lang="en-US" sz="1100" dirty="0"/>
          </a:p>
        </p:txBody>
      </p:sp>
      <p:sp>
        <p:nvSpPr>
          <p:cNvPr id="41" name="card-8.899999999999999-3.5"/>
          <p:cNvSpPr/>
          <p:nvPr/>
        </p:nvSpPr>
        <p:spPr>
          <a:xfrm>
            <a:off x="8138160" y="32004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dot-9.099999999999998-3.72"/>
          <p:cNvSpPr/>
          <p:nvPr/>
        </p:nvSpPr>
        <p:spPr>
          <a:xfrm>
            <a:off x="8321040" y="3401568"/>
            <a:ext cx="274320" cy="2743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705088" y="337413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Observability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321040" y="3767328"/>
            <a:ext cx="315468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Prometheus scrapes the backend every fifteen seconds through a ServiceMonitor the chart ships. Grafana reads those series into twenty-three panels.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Tests, and why they cannot touch real data</a:t>
            </a:r>
            <a:endParaRPr lang="en-US" sz="3400" dirty="0"/>
          </a:p>
        </p:txBody>
      </p:sp>
      <p:sp>
        <p:nvSpPr>
          <p:cNvPr id="3" name="card-0.7-1.35"/>
          <p:cNvSpPr/>
          <p:nvPr/>
        </p:nvSpPr>
        <p:spPr>
          <a:xfrm>
            <a:off x="640080" y="12344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C55E"/>
                </a:solidFill>
              </a:rPr>
              <a:t>40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TESTS, ALL PASSING</a:t>
            </a:r>
            <a:endParaRPr lang="en-US" sz="1100" dirty="0"/>
          </a:p>
        </p:txBody>
      </p:sp>
      <p:sp>
        <p:nvSpPr>
          <p:cNvPr id="6" name="card-3.65-1.35"/>
          <p:cNvSpPr/>
          <p:nvPr/>
        </p:nvSpPr>
        <p:spPr>
          <a:xfrm>
            <a:off x="3337560" y="12344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399032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C55E"/>
                </a:solidFill>
              </a:rPr>
              <a:t>98%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0312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COVERAGE</a:t>
            </a:r>
            <a:endParaRPr lang="en-US" sz="1100" dirty="0"/>
          </a:p>
        </p:txBody>
      </p:sp>
      <p:sp>
        <p:nvSpPr>
          <p:cNvPr id="9" name="card-6.6-1.35"/>
          <p:cNvSpPr/>
          <p:nvPr/>
        </p:nvSpPr>
        <p:spPr>
          <a:xfrm>
            <a:off x="6035040" y="12344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399032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4748B"/>
                </a:solidFill>
              </a:rPr>
              <a:t>5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10312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REQUIRED BY RUBRIC</a:t>
            </a:r>
            <a:endParaRPr lang="en-US" sz="1100" dirty="0"/>
          </a:p>
        </p:txBody>
      </p:sp>
      <p:sp>
        <p:nvSpPr>
          <p:cNvPr id="12" name="card-9.55-1.35"/>
          <p:cNvSpPr/>
          <p:nvPr/>
        </p:nvSpPr>
        <p:spPr>
          <a:xfrm>
            <a:off x="8732520" y="123444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0" y="1399032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</a:rPr>
              <a:t>0.21s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210312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FULL SUITE</a:t>
            </a:r>
            <a:endParaRPr lang="en-US" sz="1100" dirty="0"/>
          </a:p>
        </p:txBody>
      </p:sp>
      <p:sp>
        <p:nvSpPr>
          <p:cNvPr id="15" name="card-0.7-3.1"/>
          <p:cNvSpPr/>
          <p:nvPr/>
        </p:nvSpPr>
        <p:spPr>
          <a:xfrm>
            <a:off x="640080" y="283464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99923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 is covered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364992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Health and readiness, including the database round trip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Full ticket CRUD and every 404 path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409 on a duplicate category name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422 on an unknown category_id and on bad enum values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The stats aggregate, including SLA breach counting</a:t>
            </a:r>
            <a:endParaRPr lang="en-US" sz="1150" dirty="0"/>
          </a:p>
        </p:txBody>
      </p:sp>
      <p:sp>
        <p:nvSpPr>
          <p:cNvPr id="18" name="card-6.85-3.1"/>
          <p:cNvSpPr/>
          <p:nvPr/>
        </p:nvSpPr>
        <p:spPr>
          <a:xfrm>
            <a:off x="6263640" y="283464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299923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Isolation, proven not claimed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383280"/>
            <a:ext cx="484632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CBD5E1"/>
                </a:solidFill>
              </a:rPr>
              <a:t>conftest.py resolves the test database before the application is imported.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CBD5E1"/>
                </a:solidFill>
              </a:rPr>
              <a:t>If that URL ever resolves to the production DATABASE_URL it raises at import rather than running. I verified that refusal path fires.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86EFAC"/>
                </a:solidFill>
              </a:rPr>
              <a:t>Every production row was md5-checksummed before and after a full run and came back identical.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Containers</a:t>
            </a:r>
            <a:endParaRPr lang="en-US" sz="3400" dirty="0"/>
          </a:p>
        </p:txBody>
      </p:sp>
      <p:sp>
        <p:nvSpPr>
          <p:cNvPr id="3" name="card-0.7-1.35"/>
          <p:cNvSpPr/>
          <p:nvPr/>
        </p:nvSpPr>
        <p:spPr>
          <a:xfrm>
            <a:off x="640080" y="12344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41732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Backend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7647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A4"/>
                </a:solidFill>
              </a:rPr>
              <a:t>python:3.12-slim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93776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 builder stage compiles wheels; the runtime copies only the virtualenv. pip, setuptools and wheel are then deleted, which removed four fixable high-severity findings on its own.</a:t>
            </a:r>
            <a:endParaRPr lang="en-US" sz="1200" dirty="0"/>
          </a:p>
        </p:txBody>
      </p:sp>
      <p:sp>
        <p:nvSpPr>
          <p:cNvPr id="7" name="card-6.8500000000000005-1.35"/>
          <p:cNvSpPr/>
          <p:nvPr/>
        </p:nvSpPr>
        <p:spPr>
          <a:xfrm>
            <a:off x="6263640" y="12344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41732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Frontend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7647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A4"/>
                </a:solidFill>
              </a:rPr>
              <a:t>node build → nginx:1.31-alpine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03120"/>
            <a:ext cx="493776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Node compiles the bundle and only the built assets reach the final image. The compiler, node_modules and source never ship.</a:t>
            </a:r>
            <a:endParaRPr lang="en-US" sz="1200" dirty="0"/>
          </a:p>
        </p:txBody>
      </p:sp>
      <p:sp>
        <p:nvSpPr>
          <p:cNvPr id="11" name="card-0.7-3.95"/>
          <p:cNvSpPr/>
          <p:nvPr/>
        </p:nvSpPr>
        <p:spPr>
          <a:xfrm>
            <a:off x="640080" y="3611880"/>
            <a:ext cx="10972800" cy="1600200"/>
          </a:xfrm>
          <a:prstGeom prst="roundRect">
            <a:avLst>
              <a:gd name="adj" fmla="val 4571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776472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Both run as non-root — checked on the published artefact, not the local build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160520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$ docker run --rm --entrypoint id ghcr.io/amanyadav7015/servicedesk-backend:5041ecb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  uid=10001(servicedesk) gid=10001(servicedesk) groups=10001(servicedesk)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docker compose up --build starts frontend, backend and PostgreSQL together, and the pipeline smoke-tests that same stack on every push — so the compose file cannot silently rot.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The gate is real</a:t>
            </a:r>
            <a:endParaRPr lang="en-US" sz="40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868680" y="3749040"/>
            <a:ext cx="1051560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A failing test did not just colour a badge red. It prevented an artefact from existing.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Proving the pipeline blocks a bad commit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</a:rPr>
              <a:t>I pushed a deliberately failing test on commit 759989a</a:t>
            </a:r>
            <a:endParaRPr lang="en-US" sz="1500" dirty="0"/>
          </a:p>
        </p:txBody>
      </p:sp>
      <p:sp>
        <p:nvSpPr>
          <p:cNvPr id="4" name="card-0.7-1.75"/>
          <p:cNvSpPr/>
          <p:nvPr/>
        </p:nvSpPr>
        <p:spPr>
          <a:xfrm>
            <a:off x="640080" y="1600200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09928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Frontend build (Vite)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709928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</a:rPr>
              <a:t>success</a:t>
            </a:r>
            <a:endParaRPr lang="en-US" sz="1300" dirty="0"/>
          </a:p>
        </p:txBody>
      </p:sp>
      <p:sp>
        <p:nvSpPr>
          <p:cNvPr id="7" name="card-0.7-2.43"/>
          <p:cNvSpPr/>
          <p:nvPr/>
        </p:nvSpPr>
        <p:spPr>
          <a:xfrm>
            <a:off x="640080" y="2221992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3172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Backend tests (pytest)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33172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</a:rPr>
              <a:t>FAILURE</a:t>
            </a:r>
            <a:endParaRPr lang="en-US" sz="1300" dirty="0"/>
          </a:p>
        </p:txBody>
      </p:sp>
      <p:sp>
        <p:nvSpPr>
          <p:cNvPr id="10" name="card-0.7-3.1100000000000003"/>
          <p:cNvSpPr/>
          <p:nvPr/>
        </p:nvSpPr>
        <p:spPr>
          <a:xfrm>
            <a:off x="640080" y="2843784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953512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Build, scan and publish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95351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748B"/>
                </a:solidFill>
              </a:rPr>
              <a:t>skipped</a:t>
            </a:r>
            <a:endParaRPr lang="en-US" sz="1300" dirty="0"/>
          </a:p>
        </p:txBody>
      </p:sp>
      <p:sp>
        <p:nvSpPr>
          <p:cNvPr id="13" name="card-0.7-3.79"/>
          <p:cNvSpPr/>
          <p:nvPr/>
        </p:nvSpPr>
        <p:spPr>
          <a:xfrm>
            <a:off x="640080" y="3465576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575304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Docker Compose stack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3575304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748B"/>
                </a:solidFill>
              </a:rPr>
              <a:t>skipped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1605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Skipped, not failed — the needs: graph stopped them before they took a runner</a:t>
            </a:r>
            <a:endParaRPr lang="en-US" sz="1100" dirty="0"/>
          </a:p>
        </p:txBody>
      </p:sp>
      <p:sp>
        <p:nvSpPr>
          <p:cNvPr id="17" name="card-7.1-1.75"/>
          <p:cNvSpPr/>
          <p:nvPr/>
        </p:nvSpPr>
        <p:spPr>
          <a:xfrm>
            <a:off x="6492240" y="1600200"/>
            <a:ext cx="5120640" cy="3017520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1764792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registry settles it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194560"/>
            <a:ext cx="45720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CA5A5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red commit   759989a  →  404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86EFAC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green commit d142944  →  200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7DD3FC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14 tags, every one a commit SHA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7DD3FC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no "latest" tag anywhere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374904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I queried the registry directly rather than reading the pipeline log. The red commit produced no artefact at all.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7548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Any running container traces back to the exact source commit that produced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Every image traceable to a commit</a:t>
            </a:r>
            <a:endParaRPr lang="en-US" sz="3400" dirty="0"/>
          </a:p>
        </p:txBody>
      </p:sp>
      <p:pic>
        <p:nvPicPr>
          <p:cNvPr id="3" name="Image 0" descr="/Users/aman/Desktop/devops-heros/helpdesk-capstone/docs/screenshots/ghcr-package-sha-tag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7498080" cy="3794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074920"/>
            <a:ext cx="7498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The published package: public, SHA-tagged, pullable without authentication</a:t>
            </a:r>
            <a:endParaRPr lang="en-US" sz="1000" dirty="0"/>
          </a:p>
        </p:txBody>
      </p:sp>
      <p:sp>
        <p:nvSpPr>
          <p:cNvPr id="5" name="card-9.25-1.3"/>
          <p:cNvSpPr/>
          <p:nvPr/>
        </p:nvSpPr>
        <p:spPr>
          <a:xfrm>
            <a:off x="8458200" y="1188720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0" y="132588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Public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1627632"/>
            <a:ext cx="27432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Anyone can pull it; no imagePullSecret is needed in the chart</a:t>
            </a:r>
            <a:endParaRPr lang="en-US" sz="1100" dirty="0"/>
          </a:p>
        </p:txBody>
      </p:sp>
      <p:sp>
        <p:nvSpPr>
          <p:cNvPr id="8" name="card-9.25-2.75"/>
          <p:cNvSpPr/>
          <p:nvPr/>
        </p:nvSpPr>
        <p:spPr>
          <a:xfrm>
            <a:off x="8458200" y="2514600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0" y="265176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SHA tags only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2953512"/>
            <a:ext cx="27432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Both the full forty-character hash and the short form, never latest</a:t>
            </a:r>
            <a:endParaRPr lang="en-US" sz="1100" dirty="0"/>
          </a:p>
        </p:txBody>
      </p:sp>
      <p:sp>
        <p:nvSpPr>
          <p:cNvPr id="11" name="card-9.25-4.2"/>
          <p:cNvSpPr/>
          <p:nvPr/>
        </p:nvSpPr>
        <p:spPr>
          <a:xfrm>
            <a:off x="8458200" y="3840480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0" y="39776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Linked to the repo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4279392"/>
            <a:ext cx="27432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The package page carries the README, so provenance is one click away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Security scanning, fixed at source</a:t>
            </a:r>
            <a:endParaRPr lang="en-US" sz="3400" dirty="0"/>
          </a:p>
        </p:txBody>
      </p:sp>
      <p:sp>
        <p:nvSpPr>
          <p:cNvPr id="3" name="card-0.7-1.3"/>
          <p:cNvSpPr/>
          <p:nvPr/>
        </p:nvSpPr>
        <p:spPr>
          <a:xfrm>
            <a:off x="640080" y="118872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35024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nginx:1.27-alpine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645920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F4444"/>
                </a:solidFill>
              </a:rPr>
              <a:t>43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755648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findings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41 high · 2 critical · every one fixable</a:t>
            </a:r>
            <a:endParaRPr lang="en-US" sz="1200" dirty="0"/>
          </a:p>
        </p:txBody>
      </p:sp>
      <p:sp>
        <p:nvSpPr>
          <p:cNvPr id="7" name="card-6.85-1.3"/>
          <p:cNvSpPr/>
          <p:nvPr/>
        </p:nvSpPr>
        <p:spPr>
          <a:xfrm>
            <a:off x="6263640" y="11887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335024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nginx:1.31-alpine + apk upgrade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645920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C55E"/>
                </a:solidFill>
              </a:rPr>
              <a:t>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1755648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findings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one minor version, zero suppressions</a:t>
            </a:r>
            <a:endParaRPr lang="en-US" sz="1200" dirty="0"/>
          </a:p>
        </p:txBody>
      </p:sp>
      <p:sp>
        <p:nvSpPr>
          <p:cNvPr id="11" name="card-0.7-3.45"/>
          <p:cNvSpPr/>
          <p:nvPr/>
        </p:nvSpPr>
        <p:spPr>
          <a:xfrm>
            <a:off x="640080" y="3154680"/>
            <a:ext cx="10972800" cy="2331720"/>
          </a:xfrm>
          <a:prstGeom prst="roundRect">
            <a:avLst>
              <a:gd name="adj" fmla="val 313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319272"/>
            <a:ext cx="10424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.trivyignore.yaml is empty — and that was a choice, not a default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703320"/>
            <a:ext cx="1042416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The file I inherited suppressed three findings in a web framework. One was already stale.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The other two were real: the framework was pinned below its fixed release by a second dependency that declared an upper bound.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Rather than suppress them, I traced the constraint and upgraded the package holding the version down.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The entire Python section of the report disappeared. Removed at the source, not filtered out of view.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The gate itself runs with --exit-code 1 --severity HIGH,CRITICAL, and an informational pass alongside it hides nothing.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Kubernetes and Helm</a:t>
            </a:r>
            <a:endParaRPr lang="en-US" sz="3400" dirty="0"/>
          </a:p>
        </p:txBody>
      </p:sp>
      <p:sp>
        <p:nvSpPr>
          <p:cNvPr id="3" name="card-0.7-1.3"/>
          <p:cNvSpPr/>
          <p:nvPr/>
        </p:nvSpPr>
        <p:spPr>
          <a:xfrm>
            <a:off x="640080" y="118872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53312"/>
            <a:ext cx="18745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C55E"/>
                </a:solidFill>
              </a:rPr>
              <a:t>5/5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1874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PODS RUNNING</a:t>
            </a:r>
            <a:endParaRPr lang="en-US" sz="1100" dirty="0"/>
          </a:p>
        </p:txBody>
      </p:sp>
      <p:sp>
        <p:nvSpPr>
          <p:cNvPr id="6" name="card-3.2-1.3"/>
          <p:cNvSpPr/>
          <p:nvPr/>
        </p:nvSpPr>
        <p:spPr>
          <a:xfrm>
            <a:off x="2926080" y="118872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63240" y="1353312"/>
            <a:ext cx="18745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</a:rPr>
              <a:t>2+2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2057400"/>
            <a:ext cx="1874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APP REPLICAS</a:t>
            </a:r>
            <a:endParaRPr lang="en-US" sz="1100" dirty="0"/>
          </a:p>
        </p:txBody>
      </p:sp>
      <p:sp>
        <p:nvSpPr>
          <p:cNvPr id="9" name="card-5.7-1.3"/>
          <p:cNvSpPr/>
          <p:nvPr/>
        </p:nvSpPr>
        <p:spPr>
          <a:xfrm>
            <a:off x="5212080" y="118872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49240" y="1353312"/>
            <a:ext cx="18745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</a:rPr>
              <a:t>13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057400"/>
            <a:ext cx="1874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HELM REVISIONS</a:t>
            </a:r>
            <a:endParaRPr lang="en-US" sz="1100" dirty="0"/>
          </a:p>
        </p:txBody>
      </p:sp>
      <p:sp>
        <p:nvSpPr>
          <p:cNvPr id="12" name="card-8.2-1.3"/>
          <p:cNvSpPr/>
          <p:nvPr/>
        </p:nvSpPr>
        <p:spPr>
          <a:xfrm>
            <a:off x="7498080" y="118872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35240" y="1353312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</a:rPr>
              <a:t>1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205740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INGRESS HOST</a:t>
            </a:r>
            <a:endParaRPr lang="en-US" sz="1100" dirty="0"/>
          </a:p>
        </p:txBody>
      </p:sp>
      <p:sp>
        <p:nvSpPr>
          <p:cNvPr id="15" name="card-10.55-1.3"/>
          <p:cNvSpPr/>
          <p:nvPr/>
        </p:nvSpPr>
        <p:spPr>
          <a:xfrm>
            <a:off x="9646920" y="118872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0" y="1353312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784080" y="2057400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CLUSTERIP SVC</a:t>
            </a:r>
            <a:endParaRPr lang="en-US" sz="1100" dirty="0"/>
          </a:p>
        </p:txBody>
      </p:sp>
      <p:pic>
        <p:nvPicPr>
          <p:cNvPr id="18" name="Image 0" descr="/Users/aman/Desktop/devops-heros/helpdesk-capstone/docs/screenshots/kubernetes-ingress-app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88920"/>
            <a:ext cx="6035040" cy="319125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40080" y="603504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Reached at the Ingress hostname, not a port-forward</a:t>
            </a:r>
            <a:endParaRPr lang="en-US" sz="1000" dirty="0"/>
          </a:p>
        </p:txBody>
      </p:sp>
      <p:sp>
        <p:nvSpPr>
          <p:cNvPr id="20" name="card-7.55-3.05"/>
          <p:cNvSpPr/>
          <p:nvPr/>
        </p:nvSpPr>
        <p:spPr>
          <a:xfrm>
            <a:off x="6903720" y="2788920"/>
            <a:ext cx="4709160" cy="3191256"/>
          </a:xfrm>
          <a:prstGeom prst="roundRect">
            <a:avLst>
              <a:gd name="adj" fmla="val 2292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78040" y="295351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Proven end to end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178040" y="3364992"/>
            <a:ext cx="42062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86EFAC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POST a ticket through the Ingress → 201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CA5A5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delete BOTH backend pods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86EFAC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read the same ticket back → still there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7DD3FC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confirmed as a row via psql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178040" y="4983480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One Ingress host routes / to the frontend and /api to the backend. maxUnavailable: 0 means two image swaps never dropped a request.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the chart got wrong, and how I found 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helm lint passed with zero failures. Every defect below was semantic — lint validates syntax, not wiring.</a:t>
            </a:r>
            <a:endParaRPr lang="en-US" sz="1400" dirty="0"/>
          </a:p>
        </p:txBody>
      </p:sp>
      <p:sp>
        <p:nvSpPr>
          <p:cNvPr id="4" name="card-0.7-1.75"/>
          <p:cNvSpPr/>
          <p:nvPr/>
        </p:nvSpPr>
        <p:spPr>
          <a:xfrm>
            <a:off x="640080" y="160020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d0"/>
          <p:cNvSpPr/>
          <p:nvPr/>
        </p:nvSpPr>
        <p:spPr>
          <a:xfrm>
            <a:off x="868680" y="1764792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6479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91640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Ingress pointed at a Service that did not exist, on a port nothing listened to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47672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every /api request would have 503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801368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EA5A4"/>
                </a:solidFill>
              </a:rPr>
              <a:t>— would have failed at runtime</a:t>
            </a:r>
            <a:endParaRPr lang="en-US" sz="1050" dirty="0"/>
          </a:p>
        </p:txBody>
      </p:sp>
      <p:sp>
        <p:nvSpPr>
          <p:cNvPr id="10" name="card-0.7-2.57"/>
          <p:cNvSpPr/>
          <p:nvPr/>
        </p:nvSpPr>
        <p:spPr>
          <a:xfrm>
            <a:off x="640080" y="2350008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d1"/>
          <p:cNvSpPr/>
          <p:nvPr/>
        </p:nvSpPr>
        <p:spPr>
          <a:xfrm>
            <a:off x="868680" y="2514600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51460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441448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The frontend could never have started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697480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its nginx proxies to a host named backend that no Service provided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551176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EA5A4"/>
                </a:solidFill>
              </a:rPr>
              <a:t>— would have failed at runtime</a:t>
            </a:r>
            <a:endParaRPr lang="en-US" sz="1050" dirty="0"/>
          </a:p>
        </p:txBody>
      </p:sp>
      <p:sp>
        <p:nvSpPr>
          <p:cNvPr id="16" name="card-0.7-3.3899999999999997"/>
          <p:cNvSpPr/>
          <p:nvPr/>
        </p:nvSpPr>
        <p:spPr>
          <a:xfrm>
            <a:off x="640080" y="3099816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d2"/>
          <p:cNvSpPr/>
          <p:nvPr/>
        </p:nvSpPr>
        <p:spPr>
          <a:xfrm>
            <a:off x="868680" y="3264408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2644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191256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ServiceMonitor aborted the install where the Prometheus CRDs were absent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44728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guarded now with .Capabilities.APIVersions.Has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3300984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EA5A4"/>
                </a:solidFill>
              </a:rPr>
              <a:t>— would have failed on a clean install</a:t>
            </a:r>
            <a:endParaRPr lang="en-US" sz="1050" dirty="0"/>
          </a:p>
        </p:txBody>
      </p:sp>
      <p:sp>
        <p:nvSpPr>
          <p:cNvPr id="22" name="card-0.7-4.21"/>
          <p:cNvSpPr/>
          <p:nvPr/>
        </p:nvSpPr>
        <p:spPr>
          <a:xfrm>
            <a:off x="640080" y="3849624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d3"/>
          <p:cNvSpPr/>
          <p:nvPr/>
        </p:nvSpPr>
        <p:spPr>
          <a:xfrm>
            <a:off x="868680" y="4014216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40142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941064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The database password sat in the Deployment in plain text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197096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moved into a Secret and injected by secretKeyRef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4050792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EA5A4"/>
                </a:solidFill>
              </a:rPr>
              <a:t>— would have failed on a clean install</a:t>
            </a:r>
            <a:endParaRPr lang="en-US" sz="1050" dirty="0"/>
          </a:p>
        </p:txBody>
      </p:sp>
      <p:sp>
        <p:nvSpPr>
          <p:cNvPr id="28" name="card-0.7-5.029999999999999"/>
          <p:cNvSpPr/>
          <p:nvPr/>
        </p:nvSpPr>
        <p:spPr>
          <a:xfrm>
            <a:off x="640080" y="4599432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d4"/>
          <p:cNvSpPr/>
          <p:nvPr/>
        </p:nvSpPr>
        <p:spPr>
          <a:xfrm>
            <a:off x="868680" y="4764024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" y="476402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4690872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Postgres used a rolling strategy on a single read-write volume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4946904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switched to Recreate so two pods never contend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4800600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EA5A4"/>
                </a:solidFill>
              </a:rPr>
              <a:t>— would have failed on a clean install</a:t>
            </a:r>
            <a:endParaRPr lang="en-US" sz="1050" dirty="0"/>
          </a:p>
        </p:txBody>
      </p:sp>
      <p:sp>
        <p:nvSpPr>
          <p:cNvPr id="34" name="card-0.7-5.85"/>
          <p:cNvSpPr/>
          <p:nvPr/>
        </p:nvSpPr>
        <p:spPr>
          <a:xfrm>
            <a:off x="640080" y="534924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d5"/>
          <p:cNvSpPr/>
          <p:nvPr/>
        </p:nvSpPr>
        <p:spPr>
          <a:xfrm>
            <a:off x="868680" y="5513832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8680" y="55138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325880" y="5440680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A startup race between the backend and the database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325880" y="5696712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wait-for-postgres init container closes it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7589520" y="5550408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EA5A4"/>
                </a:solidFill>
              </a:rPr>
              <a:t>— would have failed on a clean install</a:t>
            </a:r>
            <a:endParaRPr lang="en-US" sz="10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Observability</a:t>
            </a:r>
            <a:endParaRPr lang="en-US" sz="3400" dirty="0"/>
          </a:p>
        </p:txBody>
      </p:sp>
      <p:pic>
        <p:nvPicPr>
          <p:cNvPr id="3" name="Image 0" descr="/Users/aman/Desktop/devops-heros/helpdesk-capstone/docs/screenshots/grafana-dashboard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7406640" cy="3749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029200"/>
            <a:ext cx="7406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Twenty-three panels on the application's own instrumentation, not node statistics</a:t>
            </a:r>
            <a:endParaRPr lang="en-US" sz="1000" dirty="0"/>
          </a:p>
        </p:txBody>
      </p:sp>
      <p:sp>
        <p:nvSpPr>
          <p:cNvPr id="5" name="card-9.15-1.3"/>
          <p:cNvSpPr/>
          <p:nvPr/>
        </p:nvSpPr>
        <p:spPr>
          <a:xfrm>
            <a:off x="8366760" y="11887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32588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C55E"/>
                </a:solidFill>
              </a:rPr>
              <a:t>2/2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82880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targets up, no scrape errors</a:t>
            </a:r>
            <a:endParaRPr lang="en-US" sz="1100" dirty="0"/>
          </a:p>
        </p:txBody>
      </p:sp>
      <p:sp>
        <p:nvSpPr>
          <p:cNvPr id="8" name="card-9.15-2.7199999999999998"/>
          <p:cNvSpPr/>
          <p:nvPr/>
        </p:nvSpPr>
        <p:spPr>
          <a:xfrm>
            <a:off x="8366760" y="2487168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95360" y="2624328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</a:rPr>
              <a:t>9.87 ms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3127248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p95 latency under load</a:t>
            </a:r>
            <a:endParaRPr lang="en-US" sz="1100" dirty="0"/>
          </a:p>
        </p:txBody>
      </p:sp>
      <p:sp>
        <p:nvSpPr>
          <p:cNvPr id="11" name="card-9.15-4.14"/>
          <p:cNvSpPr/>
          <p:nvPr/>
        </p:nvSpPr>
        <p:spPr>
          <a:xfrm>
            <a:off x="8366760" y="3785616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95360" y="3922776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</a:rPr>
              <a:t>8 + 3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4425696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recording rules and alerts</a:t>
            </a:r>
            <a:endParaRPr lang="en-US" sz="1100" dirty="0"/>
          </a:p>
        </p:txBody>
      </p:sp>
      <p:sp>
        <p:nvSpPr>
          <p:cNvPr id="14" name="card-9.15-5.6"/>
          <p:cNvSpPr/>
          <p:nvPr/>
        </p:nvSpPr>
        <p:spPr>
          <a:xfrm>
            <a:off x="8366760" y="512064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95360" y="52578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Two bugs in my own queries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595360" y="5532120"/>
            <a:ext cx="28346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 fallback scrape job double-counted every series, and an SLO rule read a histogram bucket that does not exist, so it silently returned nothing.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the metrics come from</a:t>
            </a:r>
            <a:endParaRPr lang="en-US" sz="3400" dirty="0"/>
          </a:p>
        </p:txBody>
      </p:sp>
      <p:pic>
        <p:nvPicPr>
          <p:cNvPr id="3" name="Image 0" descr="/Users/aman/Desktop/devops-heros/helpdesk-capstone/docs/screenshots/prometheus-targets-up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7406640" cy="3749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029200"/>
            <a:ext cx="7406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Both backend pods scraped and up, with an empty last-error on every target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366760" y="1234440"/>
            <a:ext cx="329184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The chart ships a ServiceMonitor, so the operator discovers pods automatically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 second fallback job scrapes the same pods by label, which is why each appears twice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Every query pins job=servicedesk-backend, so nothing double-counts</a:t>
            </a:r>
            <a:endParaRPr lang="en-US" sz="1150" dirty="0"/>
          </a:p>
        </p:txBody>
      </p:sp>
      <p:sp>
        <p:nvSpPr>
          <p:cNvPr id="6" name="card-9.15-4.1"/>
          <p:cNvSpPr/>
          <p:nvPr/>
        </p:nvSpPr>
        <p:spPr>
          <a:xfrm>
            <a:off x="8366760" y="3749040"/>
            <a:ext cx="3291840" cy="256032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95360" y="391363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instrumentation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4251960"/>
            <a:ext cx="283464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/metrics is exposed by the application itself, not an exporter bolted on beside it.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Proven by sending exactly twenty-five requests and watching the counter move by exactly twenty-five.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Infrastructure as code — and what I could not do</a:t>
            </a:r>
            <a:endParaRPr lang="en-US" sz="3400" dirty="0"/>
          </a:p>
        </p:txBody>
      </p:sp>
      <p:sp>
        <p:nvSpPr>
          <p:cNvPr id="3" name="card-0.7-1.3"/>
          <p:cNvSpPr/>
          <p:nvPr/>
        </p:nvSpPr>
        <p:spPr>
          <a:xfrm>
            <a:off x="640080" y="11887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4416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Really applied, and really destroyed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709928"/>
            <a:ext cx="484632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Twenty resources — VPC, two public subnets across two availability zones, private subnets, internet gateway, NAT, route tables and security groups. Verified afterwards with the AWS CLI, then destroyed and verified empty.</a:t>
            </a:r>
            <a:endParaRPr lang="en-US" sz="1200" dirty="0"/>
          </a:p>
        </p:txBody>
      </p:sp>
      <p:sp>
        <p:nvSpPr>
          <p:cNvPr id="6" name="card-6.85-1.3"/>
          <p:cNvSpPr/>
          <p:nvPr/>
        </p:nvSpPr>
        <p:spPr>
          <a:xfrm>
            <a:off x="6263640" y="11887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34416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Planned only, never created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709928"/>
            <a:ext cx="484632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The EKS cluster and its managed node group. A genuine thirty-five resource plan with no errors — but the emulator does not implement the EKS API at all, and there is no AWS account behind this.</a:t>
            </a:r>
            <a:endParaRPr lang="en-US" sz="1200" dirty="0"/>
          </a:p>
        </p:txBody>
      </p:sp>
      <p:sp>
        <p:nvSpPr>
          <p:cNvPr id="9" name="card-0.7-3.65"/>
          <p:cNvSpPr/>
          <p:nvPr/>
        </p:nvSpPr>
        <p:spPr>
          <a:xfrm>
            <a:off x="640080" y="3337560"/>
            <a:ext cx="10972800" cy="228600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502152"/>
            <a:ext cx="10424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 would rather lose the points than imply a cluster exists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886200"/>
            <a:ext cx="1042416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CBD5E1"/>
                </a:solidFill>
              </a:rPr>
              <a:t>The README states this in its first paragraph. No AWS console screenshot exists and none is claimed.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CBD5E1"/>
                </a:solidFill>
              </a:rPr>
              <a:t>I also captured the control: with the skip flags off the plan fails with "No valid credential sources found", ~/.aws does not exist, and sts get-caller-identity cannot locate credentials. That is proof the plan was not quietly run against a hidden account.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7DD3FC"/>
                </a:solidFill>
              </a:rPr>
              <a:t>Three separate probes record the emulator refusing EKS, including Terraform creating the IAM roles successfully and failing only on the cluster call — which shows the HCL is sound and the gap is the emulator.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Realistic score on this module: nine to twelve of fifteen. The four EKS points are unreachable without an account.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Also running on hosted infrastructure</a:t>
            </a:r>
            <a:endParaRPr lang="en-US" sz="3400" dirty="0"/>
          </a:p>
        </p:txBody>
      </p:sp>
      <p:pic>
        <p:nvPicPr>
          <p:cNvPr id="3" name="Image 0" descr="/Users/aman/Desktop/devops-heros/helpdesk-capstone/docs/screenshots/hosted-consol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6675120" cy="3383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4663440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The same images, deployed to a managed platform from the same Dockerfiles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7635240" y="1234440"/>
            <a:ext cx="397764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 managed PostgreSQL instance, with Alembic running on first boot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Backend and frontend as container services, built from the repository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Defined in render.yaml so the whole stack is reproducible</a:t>
            </a:r>
            <a:endParaRPr lang="en-US" sz="1150" dirty="0"/>
          </a:p>
        </p:txBody>
      </p:sp>
      <p:sp>
        <p:nvSpPr>
          <p:cNvPr id="6" name="card-8.35-3.95"/>
          <p:cNvSpPr/>
          <p:nvPr/>
        </p:nvSpPr>
        <p:spPr>
          <a:xfrm>
            <a:off x="7635240" y="361188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0" y="376732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Stated plainly in the README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4114800"/>
            <a:ext cx="35204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Free tier: the services sleep after fifteen minutes and the managed database is removed after thirty days. The README gives the exact dates and says the Kubernetes deployment is the real deliverable.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Passing your own tests is not the same as being portable</a:t>
            </a:r>
            <a:br>
              <a:rPr lang="en-US" sz="4000" b="1" dirty="0">
                <a:solidFill>
                  <a:schemeClr val="bg1"/>
                </a:solidFill>
              </a:rPr>
            </a:br>
            <a:endParaRPr lang="en-US" sz="40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868680" y="4046855"/>
            <a:ext cx="1051560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Three bugs that passed CI, passed the security scan, and ran fine in Kubernetes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Three bugs only a stricter host revealed</a:t>
            </a:r>
            <a:endParaRPr lang="en-US" sz="3400" dirty="0"/>
          </a:p>
        </p:txBody>
      </p:sp>
      <p:sp>
        <p:nvSpPr>
          <p:cNvPr id="3" name="card-0.7-1.3"/>
          <p:cNvSpPr/>
          <p:nvPr/>
        </p:nvSpPr>
        <p:spPr>
          <a:xfrm>
            <a:off x="640080" y="1188720"/>
            <a:ext cx="10972800" cy="1435608"/>
          </a:xfrm>
          <a:prstGeom prst="roundRect">
            <a:avLst>
              <a:gd name="adj" fmla="val 50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b0"/>
          <p:cNvSpPr/>
          <p:nvPr/>
        </p:nvSpPr>
        <p:spPr>
          <a:xfrm>
            <a:off x="868680" y="138988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3898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44168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Container up, nothing listening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64208"/>
            <a:ext cx="6949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The stock nginx entrypoint derives a checksum by shelling out to the package manager, which blocks when run as a non-root user. The process stayed alive, so Docker reported it healthy. No HTTP ever answered.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41080" y="137160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EA5A4"/>
                </a:solidFill>
              </a:rPr>
              <a:t>FIX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641080" y="1609344"/>
            <a:ext cx="2788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Removed the script this image replaces anyway</a:t>
            </a:r>
            <a:endParaRPr lang="en-US" sz="1100" dirty="0"/>
          </a:p>
        </p:txBody>
      </p:sp>
      <p:sp>
        <p:nvSpPr>
          <p:cNvPr id="10" name="card-0.7-3.02"/>
          <p:cNvSpPr/>
          <p:nvPr/>
        </p:nvSpPr>
        <p:spPr>
          <a:xfrm>
            <a:off x="640080" y="2761488"/>
            <a:ext cx="10972800" cy="1435608"/>
          </a:xfrm>
          <a:prstGeom prst="roundRect">
            <a:avLst>
              <a:gd name="adj" fmla="val 50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b1"/>
          <p:cNvSpPr/>
          <p:nvPr/>
        </p:nvSpPr>
        <p:spPr>
          <a:xfrm>
            <a:off x="868680" y="296265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9626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16936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exec: Operation not permitted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236976"/>
            <a:ext cx="6949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The binary carried a capability so an unprivileged user could bind port 80. A host setting no_new_privileges refuses to execute a file carrying capabilities. Kubernetes allowed it; the stricter host did not.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2944368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EA5A4"/>
                </a:solidFill>
              </a:rPr>
              <a:t>FIX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3182112"/>
            <a:ext cx="2788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Dropped the capability and moved to port 8080</a:t>
            </a:r>
            <a:endParaRPr lang="en-US" sz="1100" dirty="0"/>
          </a:p>
        </p:txBody>
      </p:sp>
      <p:sp>
        <p:nvSpPr>
          <p:cNvPr id="17" name="card-0.7-4.74"/>
          <p:cNvSpPr/>
          <p:nvPr/>
        </p:nvSpPr>
        <p:spPr>
          <a:xfrm>
            <a:off x="640080" y="4334256"/>
            <a:ext cx="10972800" cy="1435608"/>
          </a:xfrm>
          <a:prstGeom prst="roundRect">
            <a:avLst>
              <a:gd name="adj" fmla="val 50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b2"/>
          <p:cNvSpPr/>
          <p:nvPr/>
        </p:nvSpPr>
        <p:spPr>
          <a:xfrm>
            <a:off x="868680" y="453542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5354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489704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502 with a perfectly healthy backend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809744"/>
            <a:ext cx="69494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The proxy forwarded the browser's Host header upstream, and a variable proxy_pass sends no SNI. A platform routing by Host and terminating TLS could do neither.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4517136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EA5A4"/>
                </a:solidFill>
              </a:rPr>
              <a:t>FIX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641080" y="4754880"/>
            <a:ext cx="2788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Host $proxy_host and proxy_ssl_server_name 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None is visible when the backend is plain HTTP on the same network — which is exactly why the cluster never surfaced them, and why every fix made the Kubernetes image better too.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 algn="l">
              <a:buNone/>
            </a:pPr>
            <a:r>
              <a:rPr lang="en-US" sz="4800" dirty="0"/>
              <a:t>Thank you</a:t>
            </a:r>
            <a:endParaRPr lang="en-US" sz="48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868680" y="3703320"/>
            <a:ext cx="10515600" cy="146304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en-US" sz="1700" dirty="0">
                <a:solidFill>
                  <a:srgbClr val="CBD5E1"/>
                </a:solidFill>
              </a:rPr>
              <a:t>github.com/AmanYadav7015/devops-capstone-servicedesk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rviceDesk Capstone">
  <a:themeElements>
    <a:clrScheme name="ServiceDesk Capstone">
      <a:dk1>
        <a:srgbClr val="0F172A"/>
      </a:dk1>
      <a:lt1>
        <a:srgbClr val="FFFFFF"/>
      </a:lt1>
      <a:dk2>
        <a:srgbClr val="1C7293"/>
      </a:dk2>
      <a:lt2>
        <a:srgbClr val="F1F5F9"/>
      </a:lt2>
      <a:accent1>
        <a:srgbClr val="0EA5A4"/>
      </a:accent1>
      <a:accent2>
        <a:srgbClr val="F59E0B"/>
      </a:accent2>
      <a:accent3>
        <a:srgbClr val="EF4444"/>
      </a:accent3>
      <a:accent4>
        <a:srgbClr val="22C55E"/>
      </a:accent4>
      <a:accent5>
        <a:srgbClr val="065A82"/>
      </a:accent5>
      <a:accent6>
        <a:srgbClr val="64748B"/>
      </a:accent6>
      <a:hlink>
        <a:srgbClr val="0EA5A4"/>
      </a:hlink>
      <a:folHlink>
        <a:srgbClr val="64748B"/>
      </a:folHlink>
    </a:clrScheme>
    <a:fontScheme name="ServiceDesk Capsto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rviceDesk Capstone">
  <a:themeElements>
    <a:clrScheme name="ServiceDesk Capstone">
      <a:dk1>
        <a:srgbClr val="0F172A"/>
      </a:dk1>
      <a:lt1>
        <a:srgbClr val="FFFFFF"/>
      </a:lt1>
      <a:dk2>
        <a:srgbClr val="1C7293"/>
      </a:dk2>
      <a:lt2>
        <a:srgbClr val="F1F5F9"/>
      </a:lt2>
      <a:accent1>
        <a:srgbClr val="0EA5A4"/>
      </a:accent1>
      <a:accent2>
        <a:srgbClr val="F59E0B"/>
      </a:accent2>
      <a:accent3>
        <a:srgbClr val="EF4444"/>
      </a:accent3>
      <a:accent4>
        <a:srgbClr val="22C55E"/>
      </a:accent4>
      <a:accent5>
        <a:srgbClr val="065A82"/>
      </a:accent5>
      <a:accent6>
        <a:srgbClr val="64748B"/>
      </a:accent6>
      <a:hlink>
        <a:srgbClr val="0EA5A4"/>
      </a:hlink>
      <a:folHlink>
        <a:srgbClr val="64748B"/>
      </a:folHlink>
    </a:clrScheme>
    <a:fontScheme name="ServiceDesk Capsto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12519</Words>
  <Application>WPS Presentation</Application>
  <PresentationFormat>On-screen Show (16:9)</PresentationFormat>
  <Paragraphs>602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7" baseType="lpstr">
      <vt:lpstr>Arial</vt:lpstr>
      <vt:lpstr>SimSun</vt:lpstr>
      <vt:lpstr>Wingdings</vt:lpstr>
      <vt:lpstr>Courier New</vt:lpstr>
      <vt:lpstr>Courier New</vt:lpstr>
      <vt:lpstr>Courier New</vt:lpstr>
      <vt:lpstr>Cambria</vt:lpstr>
      <vt:lpstr>苹方-简</vt:lpstr>
      <vt:lpstr>Calibri</vt:lpstr>
      <vt:lpstr>Helvetica Neue</vt:lpstr>
      <vt:lpstr>Microsoft YaHei</vt:lpstr>
      <vt:lpstr>汉仪旗黑</vt:lpstr>
      <vt:lpstr>Arial Unicode MS</vt:lpstr>
      <vt:lpstr>宋体-简</vt:lpstr>
      <vt:lpstr>ServiceDesk Capstone</vt:lpstr>
      <vt:lpstr>ServiceDesk</vt:lpstr>
      <vt:lpstr>What the application does</vt:lpstr>
      <vt:lpstr>The data model, and why it has two tables</vt:lpstr>
      <vt:lpstr>The API surface</vt:lpstr>
      <vt:lpstr>The console in use</vt:lpstr>
      <vt:lpstr>Responsive at three widths</vt:lpstr>
      <vt:lpstr>How a change reaches the cluster</vt:lpstr>
      <vt:lpstr>Tests, and why they cannot touch real data</vt:lpstr>
      <vt:lpstr>Containers</vt:lpstr>
      <vt:lpstr>The gate is real</vt:lpstr>
      <vt:lpstr>Proving the pipeline blocks a bad commit</vt:lpstr>
      <vt:lpstr>Every image traceable to a commit</vt:lpstr>
      <vt:lpstr>Security scanning, fixed at source</vt:lpstr>
      <vt:lpstr>Kubernetes and Helm</vt:lpstr>
      <vt:lpstr>What the chart got wrong, and how I found it</vt:lpstr>
      <vt:lpstr>Observability</vt:lpstr>
      <vt:lpstr>Where the metrics come from</vt:lpstr>
      <vt:lpstr>Infrastructure as code — and what I could not do</vt:lpstr>
      <vt:lpstr>Also running on hosted infrastructure</vt:lpstr>
      <vt:lpstr>Passing your own tests is not the same as being portable</vt:lpstr>
      <vt:lpstr>Three bugs only a stricter host revealed</vt:lpstr>
      <vt:lpstr>Where it stands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ServiceDesk - DevOps Capstone</dc:title>
  <dc:creator>Aman Yadav</dc:creator>
  <dc:subject>PptxGenJS Presentation</dc:subject>
  <cp:lastModifiedBy>Aman Yadav</cp:lastModifiedBy>
  <cp:revision>2</cp:revision>
  <dcterms:created xsi:type="dcterms:W3CDTF">2026-10-16T03:13:54Z</dcterms:created>
  <dcterms:modified xsi:type="dcterms:W3CDTF">2026-10-16T03:13:54Z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1033-12.1.26035.26035</vt:lpwstr>
  </property>
  <property fmtid="{D5CDD505-2E9C-101B-9397-08002B2CF9AE}" pid="3" name="ICV">
    <vt:lpwstr>85E9573B3346C0857296D16AC79F9109_42</vt:lpwstr>
  </property>
</Properties>
</file>
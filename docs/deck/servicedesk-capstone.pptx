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94dae210-f9bc-3476-06fa-f4562d40c2fa}">
          <p14:sldIdLst>
            <p14:sldId id="256"/>
            <p14:sldId id="257"/>
            <p14:sldId id="258"/>
          </p14:sldIdLst>
        </p14:section>
        <p14:section name="Engineering" id="{93f672e7-b9d3-c5da-8917-ba62f6bff018}">
          <p14:sldIdLst>
            <p14:sldId id="259"/>
            <p14:sldId id="260"/>
          </p14:sldIdLst>
        </p14:section>
        <p14:section name="Pipeline" id="{271e33f9-46c3-478a-0d4c-ad85d1dda4ba}">
          <p14:sldIdLst>
            <p14:sldId id="261"/>
            <p14:sldId id="262"/>
            <p14:sldId id="263"/>
          </p14:sldIdLst>
        </p14:section>
        <p14:section name="Platform" id="{9afbdc96-6ffb-647e-0217-ae044453a436}">
          <p14:sldIdLst>
            <p14:sldId id="264"/>
            <p14:sldId id="265"/>
            <p14:sldId id="266"/>
          </p14:sldIdLst>
        </p14:section>
        <p14:section name="Lessons" id="{a95e075a-d2ac-567a-eb99-ca476b025891}">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running app, not this slide. Say what ServiceDesk is in one sentence, then note the domain is my own and the DevOps architecture follows the course reference, which the brief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a ticket live here. Change its status and watch the counters move. Then curl the stats endpoint and point out that breachingSla is computed in SQL and excludes resolved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It is a map so the grader knows what is coming; the detail lands on the slides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pytest live. Then open conftest.py and explain the refusal path, and that I verified it actually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docker compose ps, then the id command against the published image so it is clearly the artefact a grader could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It is the strongest single piece of evidence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red run on screen. Show the skipped jobs. Then switch to the registry tab and show there is no image for that SHA. That contrast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empty ignore file. The story is that a suppression would have scored the same and been worse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Delete a pod live and watch it come back. Then refresh the console to show the data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dashboard open and send sixty requests from the terminal so the request-rate panel moves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or apologise for it. Stating the limit precisely, with the control evidence, is worth more than hand-waving.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shows judgement rather than box-ticking.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all three fixes made the Kubernetes image better too. That is the point: the stricter environment was a free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I would do differently: an advisory lock around the migration so two replicas cannot race on a cold database, and a real AWS account to finish the EKS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868680" y="3703320"/>
            <a:ext cx="10515600" cy="1463040"/>
          </a:xfrm>
          <a:prstGeom prst="rect">
            <a:avLst/>
          </a:prstGeom>
          <a:noFill/>
          <a:ln/>
        </p:spPr>
        <p:txBody>
          <a:bodyPr wrap="square" rtlCol="0"/>
          <a:lstStyle>
            <a:lvl1pPr indent="0" marL="0">
              <a:buNone/>
              <a:defRPr lang="en-US" sz="1700" dirty="0">
                <a:solidFill>
                  <a:srgbClr val="CBD5E1"/>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DIVIDER">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68680" y="3749040"/>
            <a:ext cx="10515600" cy="914400"/>
          </a:xfrm>
          <a:prstGeom prst="rect">
            <a:avLst/>
          </a:prstGeom>
          <a:noFill/>
          <a:ln/>
        </p:spPr>
        <p:txBody>
          <a:bodyPr wrap="square" rtlCol="0"/>
          <a:lstStyle>
            <a:lvl1pPr indent="0" marL="0">
              <a:buNone/>
              <a:defRPr lang="en-US" sz="1600" dirty="0">
                <a:solidFill>
                  <a:srgbClr val="CBD5E1"/>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640080" y="6355080"/>
            <a:ext cx="7315200" cy="274320"/>
          </a:xfrm>
          <a:prstGeom prst="rect">
            <a:avLst/>
          </a:prstGeom>
          <a:noFill/>
          <a:ln/>
        </p:spPr>
        <p:txBody>
          <a:bodyPr wrap="square" rtlCol="0" anchor="ctr"/>
          <a:lstStyle/>
          <a:p>
            <a:pPr indent="0" marL="0">
              <a:buNone/>
            </a:pPr>
            <a:r>
              <a:rPr lang="en-US" sz="1000" dirty="0">
                <a:solidFill>
                  <a:srgbClr val="64748B"/>
                </a:solidFill>
              </a:rPr>
              <a:t>ServiceDesk  ·  DevOps Capstone  ·  Aman Yadav</a:t>
            </a:r>
            <a:endParaRPr lang="en-US" sz="1000" dirty="0"/>
          </a:p>
        </p:txBody>
      </p:sp>
      <p:sp>
        <p:nvSpPr>
          <p:cNvPr id="4" name="Text 1"/>
          <p:cNvSpPr/>
          <p:nvPr>
            <p:ph idx="102" type="body" hasCustomPrompt="1"/>
          </p:nvPr>
        </p:nvSpPr>
        <p:spPr>
          <a:xfrm>
            <a:off x="640080" y="1280160"/>
            <a:ext cx="10972800" cy="4846320"/>
          </a:xfrm>
          <a:prstGeom prst="rect">
            <a:avLst/>
          </a:prstGeom>
          <a:noFill/>
          <a:ln/>
        </p:spPr>
        <p:txBody>
          <a:bodyPr wrap="square" rtlCol="0"/>
          <a:lstStyle>
            <a:lvl1pPr indent="0" marL="0">
              <a:buNone/>
              <a:defRPr lang="en-US" sz="1500" dirty="0">
                <a:solidFill>
                  <a:schemeClr val="tx1"/>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IGHT_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640080" y="6355080"/>
            <a:ext cx="7315200" cy="274320"/>
          </a:xfrm>
          <a:prstGeom prst="rect">
            <a:avLst/>
          </a:prstGeom>
          <a:noFill/>
          <a:ln/>
        </p:spPr>
        <p:txBody>
          <a:bodyPr wrap="square" rtlCol="0" anchor="ctr"/>
          <a:lstStyle/>
          <a:p>
            <a:pPr indent="0" marL="0">
              <a:buNone/>
            </a:pPr>
            <a:r>
              <a:rPr lang="en-US" sz="1000" dirty="0">
                <a:solidFill>
                  <a:srgbClr val="64748B"/>
                </a:solidFill>
              </a:rPr>
              <a:t>ServiceDesk  ·  DevOps Capstone  ·  Aman Yadav</a:t>
            </a:r>
            <a:endParaRPr lang="en-US" sz="1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371600"/>
          </a:xfrm>
          <a:prstGeom prst="rect">
            <a:avLst/>
          </a:prstGeom>
          <a:noFill/>
          <a:ln/>
        </p:spPr>
        <p:txBody>
          <a:bodyPr wrap="square" rtlCol="0"/>
          <a:lstStyle/>
          <a:p>
            <a:pPr algn="l" indent="0" marL="0">
              <a:buNone/>
            </a:pPr>
            <a:r>
              <a:rPr lang="en-US" sz="4800" b="1" dirty="0">
                <a:solidFill>
                  <a:schemeClr val="bg1"/>
                </a:solidFill>
              </a:rPr>
              <a:t>ServiceDesk</a:t>
            </a:r>
            <a:endParaRPr lang="en-US" sz="4800" dirty="0"/>
          </a:p>
        </p:txBody>
      </p:sp>
      <p:sp>
        <p:nvSpPr>
          <p:cNvPr id="3" name="Text 0"/>
          <p:cNvSpPr/>
          <p:nvPr>
            <p:ph idx="101" type="body" hasCustomPrompt="1"/>
          </p:nvPr>
        </p:nvSpPr>
        <p:spPr>
          <a:xfrm>
            <a:off x="868680" y="3703320"/>
            <a:ext cx="10515600" cy="1463040"/>
          </a:xfrm>
          <a:prstGeom prst="rect">
            <a:avLst/>
          </a:prstGeom>
          <a:noFill/>
          <a:ln/>
        </p:spPr>
        <p:txBody>
          <a:bodyPr wrap="square" rtlCol="0"/>
          <a:lstStyle/>
          <a:p>
            <a:pPr indent="0" marL="0">
              <a:buNone/>
            </a:pPr>
            <a:r>
              <a:rPr lang="en-US" sz="1700" dirty="0">
                <a:solidFill>
                  <a:srgbClr val="CBD5E1"/>
                </a:solidFill>
              </a:rPr>
              <a:t>A help desk ticketing platform, shipped through a complete DevOps pipeline</a:t>
            </a:r>
            <a:endParaRPr lang="en-US" sz="1700" dirty="0"/>
          </a:p>
          <a:p>
            <a:pPr indent="0" marL="0">
              <a:buNone/>
            </a:pPr>
            <a:r>
              <a:rPr lang="en-US" sz="1700" dirty="0">
                <a:solidFill>
                  <a:srgbClr val="CBD5E1"/>
                </a:solidFill>
              </a:rPr>
              <a:t>Aman Yadav  ·  24bcs10183  ·  2nd Year  ·  Batch A</a:t>
            </a:r>
            <a:endParaRPr lang="en-US" sz="1700" dirty="0"/>
          </a:p>
        </p:txBody>
      </p:sp>
      <p:sp>
        <p:nvSpPr>
          <p:cNvPr id="4" name="kicker"/>
          <p:cNvSpPr/>
          <p:nvPr/>
        </p:nvSpPr>
        <p:spPr>
          <a:xfrm>
            <a:off x="868680" y="1600200"/>
            <a:ext cx="2194560" cy="384048"/>
          </a:xfrm>
          <a:prstGeom prst="roundRect">
            <a:avLst>
              <a:gd name="adj" fmla="val 47619"/>
            </a:avLst>
          </a:prstGeom>
          <a:solidFill>
            <a:srgbClr val="0EA5A4"/>
          </a:solidFill>
          <a:ln w="12700">
            <a:solidFill>
              <a:srgbClr val="0EA5A4"/>
            </a:solidFill>
            <a:prstDash val="solid"/>
          </a:ln>
        </p:spPr>
      </p:sp>
      <p:sp>
        <p:nvSpPr>
          <p:cNvPr id="5" name="Text 3"/>
          <p:cNvSpPr txBox="1"/>
          <p:nvPr/>
        </p:nvSpPr>
        <p:spPr>
          <a:xfrm>
            <a:off x="868680" y="1600200"/>
            <a:ext cx="2194560" cy="384048"/>
          </a:xfrm>
          <a:prstGeom prst="rect">
            <a:avLst/>
          </a:prstGeom>
          <a:noFill/>
          <a:ln/>
        </p:spPr>
        <p:txBody>
          <a:bodyPr wrap="square" lIns="0" tIns="0" rIns="0" bIns="0" rtlCol="0" anchor="ctr"/>
          <a:lstStyle/>
          <a:p>
            <a:pPr algn="ctr" indent="0" marL="0">
              <a:buNone/>
            </a:pPr>
            <a:r>
              <a:rPr lang="en-US" sz="1000" b="1" spc="100" kern="0" dirty="0">
                <a:solidFill>
                  <a:srgbClr val="0F172A"/>
                </a:solidFill>
              </a:rPr>
              <a:t>SESSION 21 CAPSTONE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What the application does</a:t>
            </a:r>
            <a:endParaRPr lang="en-US" sz="3400" dirty="0"/>
          </a:p>
        </p:txBody>
      </p:sp>
      <p:sp>
        <p:nvSpPr>
          <p:cNvPr id="3" name="Text 1"/>
          <p:cNvSpPr txBox="1"/>
          <p:nvPr/>
        </p:nvSpPr>
        <p:spPr>
          <a:xfrm>
            <a:off x="640080" y="1234440"/>
            <a:ext cx="5486400" cy="822960"/>
          </a:xfrm>
          <a:prstGeom prst="rect">
            <a:avLst/>
          </a:prstGeom>
          <a:noFill/>
          <a:ln/>
        </p:spPr>
        <p:txBody>
          <a:bodyPr wrap="square" lIns="0" tIns="0" rIns="0" bIns="0" rtlCol="0" anchor="ctr"/>
          <a:lstStyle/>
          <a:p>
            <a:pPr indent="0" marL="0">
              <a:buNone/>
            </a:pPr>
            <a:r>
              <a:rPr lang="en-US" sz="1700" b="1" dirty="0">
                <a:solidFill>
                  <a:srgbClr val="000000"/>
                </a:solidFill>
              </a:rPr>
              <a:t>A support team lives and dies by two questions.</a:t>
            </a:r>
            <a:endParaRPr lang="en-US" sz="1700" dirty="0"/>
          </a:p>
          <a:p>
            <a:pPr indent="0" marL="0">
              <a:buNone/>
            </a:pPr>
            <a:r>
              <a:rPr lang="en-US" sz="1700" dirty="0">
                <a:solidFill>
                  <a:srgbClr val="64748B"/>
                </a:solidFill>
              </a:rPr>
              <a:t>What is open right now, and what is about to breach its SLA.</a:t>
            </a:r>
            <a:endParaRPr lang="en-US" sz="1700" dirty="0"/>
          </a:p>
        </p:txBody>
      </p:sp>
      <p:sp>
        <p:nvSpPr>
          <p:cNvPr id="4" name="dot-0.75-2.5100000000000002"/>
          <p:cNvSpPr/>
          <p:nvPr/>
        </p:nvSpPr>
        <p:spPr>
          <a:xfrm>
            <a:off x="685800" y="2295144"/>
            <a:ext cx="274320" cy="274320"/>
          </a:xfrm>
          <a:prstGeom prst="ellipse">
            <a:avLst/>
          </a:prstGeom>
          <a:solidFill>
            <a:srgbClr val="0EA5A4"/>
          </a:solidFill>
          <a:ln w="12700">
            <a:solidFill>
              <a:srgbClr val="0EA5A4"/>
            </a:solidFill>
            <a:prstDash val="solid"/>
          </a:ln>
        </p:spPr>
      </p:sp>
      <p:sp>
        <p:nvSpPr>
          <p:cNvPr id="5" name="Text 3"/>
          <p:cNvSpPr txBox="1"/>
          <p:nvPr/>
        </p:nvSpPr>
        <p:spPr>
          <a:xfrm>
            <a:off x="1097280" y="2221992"/>
            <a:ext cx="4937760" cy="274320"/>
          </a:xfrm>
          <a:prstGeom prst="rect">
            <a:avLst/>
          </a:prstGeom>
          <a:noFill/>
          <a:ln/>
        </p:spPr>
        <p:txBody>
          <a:bodyPr wrap="square" lIns="0" tIns="0" rIns="0" bIns="0" rtlCol="0" anchor="ctr"/>
          <a:lstStyle/>
          <a:p>
            <a:pPr indent="0" marL="0">
              <a:buNone/>
            </a:pPr>
            <a:r>
              <a:rPr lang="en-US" sz="1500" b="1" dirty="0">
                <a:solidFill>
                  <a:schemeClr val="tx1"/>
                </a:solidFill>
              </a:rPr>
              <a:t>Ticket</a:t>
            </a:r>
            <a:endParaRPr lang="en-US" sz="1500" dirty="0"/>
          </a:p>
        </p:txBody>
      </p:sp>
      <p:sp>
        <p:nvSpPr>
          <p:cNvPr id="6" name="Text 4"/>
          <p:cNvSpPr txBox="1"/>
          <p:nvPr/>
        </p:nvSpPr>
        <p:spPr>
          <a:xfrm>
            <a:off x="1097280" y="2496312"/>
            <a:ext cx="4937760" cy="457200"/>
          </a:xfrm>
          <a:prstGeom prst="rect">
            <a:avLst/>
          </a:prstGeom>
          <a:noFill/>
          <a:ln/>
        </p:spPr>
        <p:txBody>
          <a:bodyPr wrap="square" lIns="0" tIns="0" rIns="0" bIns="0" rtlCol="0" anchor="ctr"/>
          <a:lstStyle/>
          <a:p>
            <a:pPr indent="0" marL="0">
              <a:buNone/>
            </a:pPr>
            <a:r>
              <a:rPr lang="en-US" sz="1200" dirty="0">
                <a:solidFill>
                  <a:srgbClr val="64748B"/>
                </a:solidFill>
              </a:rPr>
              <a:t>subject, severity, status, requester, assignee</a:t>
            </a:r>
            <a:endParaRPr lang="en-US" sz="1200" dirty="0"/>
          </a:p>
        </p:txBody>
      </p:sp>
      <p:sp>
        <p:nvSpPr>
          <p:cNvPr id="7" name="dot-0.75-3.5100000000000002"/>
          <p:cNvSpPr/>
          <p:nvPr/>
        </p:nvSpPr>
        <p:spPr>
          <a:xfrm>
            <a:off x="685800" y="3209544"/>
            <a:ext cx="274320" cy="274320"/>
          </a:xfrm>
          <a:prstGeom prst="ellipse">
            <a:avLst/>
          </a:prstGeom>
          <a:solidFill>
            <a:srgbClr val="0EA5A4"/>
          </a:solidFill>
          <a:ln w="12700">
            <a:solidFill>
              <a:srgbClr val="0EA5A4"/>
            </a:solidFill>
            <a:prstDash val="solid"/>
          </a:ln>
        </p:spPr>
      </p:sp>
      <p:sp>
        <p:nvSpPr>
          <p:cNvPr id="8" name="Text 6"/>
          <p:cNvSpPr txBox="1"/>
          <p:nvPr/>
        </p:nvSpPr>
        <p:spPr>
          <a:xfrm>
            <a:off x="1097280" y="3136392"/>
            <a:ext cx="4937760" cy="274320"/>
          </a:xfrm>
          <a:prstGeom prst="rect">
            <a:avLst/>
          </a:prstGeom>
          <a:noFill/>
          <a:ln/>
        </p:spPr>
        <p:txBody>
          <a:bodyPr wrap="square" lIns="0" tIns="0" rIns="0" bIns="0" rtlCol="0" anchor="ctr"/>
          <a:lstStyle/>
          <a:p>
            <a:pPr indent="0" marL="0">
              <a:buNone/>
            </a:pPr>
            <a:r>
              <a:rPr lang="en-US" sz="1500" b="1" dirty="0">
                <a:solidFill>
                  <a:schemeClr val="tx1"/>
                </a:solidFill>
              </a:rPr>
              <a:t>Category</a:t>
            </a:r>
            <a:endParaRPr lang="en-US" sz="1500" dirty="0"/>
          </a:p>
        </p:txBody>
      </p:sp>
      <p:sp>
        <p:nvSpPr>
          <p:cNvPr id="9" name="Text 7"/>
          <p:cNvSpPr txBox="1"/>
          <p:nvPr/>
        </p:nvSpPr>
        <p:spPr>
          <a:xfrm>
            <a:off x="1097280" y="3410712"/>
            <a:ext cx="4937760" cy="457200"/>
          </a:xfrm>
          <a:prstGeom prst="rect">
            <a:avLst/>
          </a:prstGeom>
          <a:noFill/>
          <a:ln/>
        </p:spPr>
        <p:txBody>
          <a:bodyPr wrap="square" lIns="0" tIns="0" rIns="0" bIns="0" rtlCol="0" anchor="ctr"/>
          <a:lstStyle/>
          <a:p>
            <a:pPr indent="0" marL="0">
              <a:buNone/>
            </a:pPr>
            <a:r>
              <a:rPr lang="en-US" sz="1200" dirty="0">
                <a:solidFill>
                  <a:srgbClr val="64748B"/>
                </a:solidFill>
              </a:rPr>
              <a:t>unique name, referenced by tickets via a foreign key</a:t>
            </a:r>
            <a:endParaRPr lang="en-US" sz="1200" dirty="0"/>
          </a:p>
        </p:txBody>
      </p:sp>
      <p:sp>
        <p:nvSpPr>
          <p:cNvPr id="10" name="dot-0.75-4.51"/>
          <p:cNvSpPr/>
          <p:nvPr/>
        </p:nvSpPr>
        <p:spPr>
          <a:xfrm>
            <a:off x="685800" y="4123944"/>
            <a:ext cx="274320" cy="274320"/>
          </a:xfrm>
          <a:prstGeom prst="ellipse">
            <a:avLst/>
          </a:prstGeom>
          <a:solidFill>
            <a:srgbClr val="0EA5A4"/>
          </a:solidFill>
          <a:ln w="12700">
            <a:solidFill>
              <a:srgbClr val="0EA5A4"/>
            </a:solidFill>
            <a:prstDash val="solid"/>
          </a:ln>
        </p:spPr>
      </p:sp>
      <p:sp>
        <p:nvSpPr>
          <p:cNvPr id="11" name="Text 9"/>
          <p:cNvSpPr txBox="1"/>
          <p:nvPr/>
        </p:nvSpPr>
        <p:spPr>
          <a:xfrm>
            <a:off x="1097280" y="4050792"/>
            <a:ext cx="4937760" cy="274320"/>
          </a:xfrm>
          <a:prstGeom prst="rect">
            <a:avLst/>
          </a:prstGeom>
          <a:noFill/>
          <a:ln/>
        </p:spPr>
        <p:txBody>
          <a:bodyPr wrap="square" lIns="0" tIns="0" rIns="0" bIns="0" rtlCol="0" anchor="ctr"/>
          <a:lstStyle/>
          <a:p>
            <a:pPr indent="0" marL="0">
              <a:buNone/>
            </a:pPr>
            <a:r>
              <a:rPr lang="en-US" sz="1500" b="1" dirty="0">
                <a:solidFill>
                  <a:schemeClr val="tx1"/>
                </a:solidFill>
              </a:rPr>
              <a:t>SLA</a:t>
            </a:r>
            <a:endParaRPr lang="en-US" sz="1500" dirty="0"/>
          </a:p>
        </p:txBody>
      </p:sp>
      <p:sp>
        <p:nvSpPr>
          <p:cNvPr id="12" name="Text 10"/>
          <p:cNvSpPr txBox="1"/>
          <p:nvPr/>
        </p:nvSpPr>
        <p:spPr>
          <a:xfrm>
            <a:off x="1097280" y="4325112"/>
            <a:ext cx="4937760" cy="457200"/>
          </a:xfrm>
          <a:prstGeom prst="rect">
            <a:avLst/>
          </a:prstGeom>
          <a:noFill/>
          <a:ln/>
        </p:spPr>
        <p:txBody>
          <a:bodyPr wrap="square" lIns="0" tIns="0" rIns="0" bIns="0" rtlCol="0" anchor="ctr"/>
          <a:lstStyle/>
          <a:p>
            <a:pPr indent="0" marL="0">
              <a:buNone/>
            </a:pPr>
            <a:r>
              <a:rPr lang="en-US" sz="1200" dirty="0">
                <a:solidFill>
                  <a:srgbClr val="64748B"/>
                </a:solidFill>
              </a:rPr>
              <a:t>due 24h after creation; breach counted only while open or pending</a:t>
            </a:r>
            <a:endParaRPr lang="en-US" sz="1200" dirty="0"/>
          </a:p>
        </p:txBody>
      </p:sp>
      <p:pic>
        <p:nvPicPr>
          <p:cNvPr id="13" name="Image 0" descr="/Users/aman/Desktop/devops-heros/helpdesk-capstone/docs/screenshots/kubernetes-ingress-app.jpg">    </p:cNvPr>
          <p:cNvPicPr>
            <a:picLocks noChangeAspect="1"/>
          </p:cNvPicPr>
          <p:nvPr/>
        </p:nvPicPr>
        <p:blipFill>
          <a:blip r:embed="rId1"/>
          <a:stretch>
            <a:fillRect/>
          </a:stretch>
        </p:blipFill>
        <p:spPr>
          <a:xfrm>
            <a:off x="6400800" y="1234440"/>
            <a:ext cx="5212080" cy="2743200"/>
          </a:xfrm>
          <a:prstGeom prst="rect">
            <a:avLst/>
          </a:prstGeom>
        </p:spPr>
      </p:pic>
      <p:sp>
        <p:nvSpPr>
          <p:cNvPr id="14" name="Text 11"/>
          <p:cNvSpPr txBox="1"/>
          <p:nvPr/>
        </p:nvSpPr>
        <p:spPr>
          <a:xfrm>
            <a:off x="6400800" y="4023360"/>
            <a:ext cx="5212080" cy="274320"/>
          </a:xfrm>
          <a:prstGeom prst="rect">
            <a:avLst/>
          </a:prstGeom>
          <a:noFill/>
          <a:ln/>
        </p:spPr>
        <p:txBody>
          <a:bodyPr wrap="square" lIns="0" tIns="0" rIns="0" bIns="0" rtlCol="0" anchor="ctr"/>
          <a:lstStyle/>
          <a:p>
            <a:pPr indent="0" marL="0">
              <a:buNone/>
            </a:pPr>
            <a:r>
              <a:rPr lang="en-US" sz="1000" i="1" dirty="0">
                <a:solidFill>
                  <a:srgbClr val="64748B"/>
                </a:solidFill>
              </a:rPr>
              <a:t>The console, served through the Kubernetes Ingress</a:t>
            </a:r>
            <a:endParaRPr lang="en-US" sz="1000" dirty="0"/>
          </a:p>
        </p:txBody>
      </p:sp>
      <p:sp>
        <p:nvSpPr>
          <p:cNvPr id="15" name="card-7-4.9"/>
          <p:cNvSpPr/>
          <p:nvPr/>
        </p:nvSpPr>
        <p:spPr>
          <a:xfrm>
            <a:off x="6400800" y="4480560"/>
            <a:ext cx="1645920" cy="1371600"/>
          </a:xfrm>
          <a:prstGeom prst="roundRect">
            <a:avLst>
              <a:gd name="adj" fmla="val 5333"/>
            </a:avLst>
          </a:prstGeom>
          <a:solidFill>
            <a:srgbClr val="F1F5F9"/>
          </a:solidFill>
          <a:ln w="12700">
            <a:solidFill>
              <a:srgbClr val="E2E8F0"/>
            </a:solidFill>
            <a:prstDash val="solid"/>
          </a:ln>
        </p:spPr>
      </p:sp>
      <p:sp>
        <p:nvSpPr>
          <p:cNvPr id="16" name="Text 13"/>
          <p:cNvSpPr txBox="1"/>
          <p:nvPr/>
        </p:nvSpPr>
        <p:spPr>
          <a:xfrm>
            <a:off x="6537960" y="4645152"/>
            <a:ext cx="1371600" cy="658368"/>
          </a:xfrm>
          <a:prstGeom prst="rect">
            <a:avLst/>
          </a:prstGeom>
          <a:noFill/>
          <a:ln/>
        </p:spPr>
        <p:txBody>
          <a:bodyPr wrap="square" lIns="0" tIns="0" rIns="0" bIns="0" rtlCol="0" anchor="ctr"/>
          <a:lstStyle/>
          <a:p>
            <a:pPr indent="0" marL="0">
              <a:buNone/>
            </a:pPr>
            <a:r>
              <a:rPr lang="en-US" sz="4000" b="1" dirty="0">
                <a:solidFill>
                  <a:srgbClr val="065A82"/>
                </a:solidFill>
              </a:rPr>
              <a:t>11</a:t>
            </a:r>
            <a:endParaRPr lang="en-US" sz="4000" dirty="0"/>
          </a:p>
        </p:txBody>
      </p:sp>
      <p:sp>
        <p:nvSpPr>
          <p:cNvPr id="17" name="Text 14"/>
          <p:cNvSpPr txBox="1"/>
          <p:nvPr/>
        </p:nvSpPr>
        <p:spPr>
          <a:xfrm>
            <a:off x="6537960" y="5349240"/>
            <a:ext cx="1371600" cy="384048"/>
          </a:xfrm>
          <a:prstGeom prst="rect">
            <a:avLst/>
          </a:prstGeom>
          <a:noFill/>
          <a:ln/>
        </p:spPr>
        <p:txBody>
          <a:bodyPr wrap="square" lIns="0" tIns="0" rIns="0" bIns="0" rtlCol="0" anchor="ctr"/>
          <a:lstStyle/>
          <a:p>
            <a:pPr indent="0" marL="0">
              <a:buNone/>
            </a:pPr>
            <a:r>
              <a:rPr lang="en-US" sz="1100" dirty="0">
                <a:solidFill>
                  <a:srgbClr val="64748B"/>
                </a:solidFill>
              </a:rPr>
              <a:t>ENDPOINTS</a:t>
            </a:r>
            <a:endParaRPr lang="en-US" sz="1100" dirty="0"/>
          </a:p>
        </p:txBody>
      </p:sp>
      <p:sp>
        <p:nvSpPr>
          <p:cNvPr id="18" name="card-8.95-4.9"/>
          <p:cNvSpPr/>
          <p:nvPr/>
        </p:nvSpPr>
        <p:spPr>
          <a:xfrm>
            <a:off x="8183880" y="4480560"/>
            <a:ext cx="1645920" cy="1371600"/>
          </a:xfrm>
          <a:prstGeom prst="roundRect">
            <a:avLst>
              <a:gd name="adj" fmla="val 5333"/>
            </a:avLst>
          </a:prstGeom>
          <a:solidFill>
            <a:srgbClr val="F1F5F9"/>
          </a:solidFill>
          <a:ln w="12700">
            <a:solidFill>
              <a:srgbClr val="E2E8F0"/>
            </a:solidFill>
            <a:prstDash val="solid"/>
          </a:ln>
        </p:spPr>
      </p:sp>
      <p:sp>
        <p:nvSpPr>
          <p:cNvPr id="19" name="Text 16"/>
          <p:cNvSpPr txBox="1"/>
          <p:nvPr/>
        </p:nvSpPr>
        <p:spPr>
          <a:xfrm>
            <a:off x="8321040" y="4645152"/>
            <a:ext cx="1371600" cy="658368"/>
          </a:xfrm>
          <a:prstGeom prst="rect">
            <a:avLst/>
          </a:prstGeom>
          <a:noFill/>
          <a:ln/>
        </p:spPr>
        <p:txBody>
          <a:bodyPr wrap="square" lIns="0" tIns="0" rIns="0" bIns="0" rtlCol="0" anchor="ctr"/>
          <a:lstStyle/>
          <a:p>
            <a:pPr indent="0" marL="0">
              <a:buNone/>
            </a:pPr>
            <a:r>
              <a:rPr lang="en-US" sz="4000" b="1" dirty="0">
                <a:solidFill>
                  <a:srgbClr val="065A82"/>
                </a:solidFill>
              </a:rPr>
              <a:t>2</a:t>
            </a:r>
            <a:endParaRPr lang="en-US" sz="4000" dirty="0"/>
          </a:p>
        </p:txBody>
      </p:sp>
      <p:sp>
        <p:nvSpPr>
          <p:cNvPr id="20" name="Text 17"/>
          <p:cNvSpPr txBox="1"/>
          <p:nvPr/>
        </p:nvSpPr>
        <p:spPr>
          <a:xfrm>
            <a:off x="8321040" y="5349240"/>
            <a:ext cx="1371600" cy="384048"/>
          </a:xfrm>
          <a:prstGeom prst="rect">
            <a:avLst/>
          </a:prstGeom>
          <a:noFill/>
          <a:ln/>
        </p:spPr>
        <p:txBody>
          <a:bodyPr wrap="square" lIns="0" tIns="0" rIns="0" bIns="0" rtlCol="0" anchor="ctr"/>
          <a:lstStyle/>
          <a:p>
            <a:pPr indent="0" marL="0">
              <a:buNone/>
            </a:pPr>
            <a:r>
              <a:rPr lang="en-US" sz="1100" dirty="0">
                <a:solidFill>
                  <a:srgbClr val="64748B"/>
                </a:solidFill>
              </a:rPr>
              <a:t>TABLES + FK</a:t>
            </a:r>
            <a:endParaRPr lang="en-US" sz="1100" dirty="0"/>
          </a:p>
        </p:txBody>
      </p:sp>
      <p:sp>
        <p:nvSpPr>
          <p:cNvPr id="21" name="card-10.9-4.9"/>
          <p:cNvSpPr/>
          <p:nvPr/>
        </p:nvSpPr>
        <p:spPr>
          <a:xfrm>
            <a:off x="9966960" y="4480560"/>
            <a:ext cx="1645920" cy="1371600"/>
          </a:xfrm>
          <a:prstGeom prst="roundRect">
            <a:avLst>
              <a:gd name="adj" fmla="val 5333"/>
            </a:avLst>
          </a:prstGeom>
          <a:solidFill>
            <a:srgbClr val="F1F5F9"/>
          </a:solidFill>
          <a:ln w="12700">
            <a:solidFill>
              <a:srgbClr val="E2E8F0"/>
            </a:solidFill>
            <a:prstDash val="solid"/>
          </a:ln>
        </p:spPr>
      </p:sp>
      <p:sp>
        <p:nvSpPr>
          <p:cNvPr id="22" name="Text 19"/>
          <p:cNvSpPr txBox="1"/>
          <p:nvPr/>
        </p:nvSpPr>
        <p:spPr>
          <a:xfrm>
            <a:off x="10104120" y="4645152"/>
            <a:ext cx="1371600" cy="658368"/>
          </a:xfrm>
          <a:prstGeom prst="rect">
            <a:avLst/>
          </a:prstGeom>
          <a:noFill/>
          <a:ln/>
        </p:spPr>
        <p:txBody>
          <a:bodyPr wrap="square" lIns="0" tIns="0" rIns="0" bIns="0" rtlCol="0" anchor="ctr"/>
          <a:lstStyle/>
          <a:p>
            <a:pPr indent="0" marL="0">
              <a:buNone/>
            </a:pPr>
            <a:r>
              <a:rPr lang="en-US" sz="4000" b="1" dirty="0">
                <a:solidFill>
                  <a:srgbClr val="065A82"/>
                </a:solidFill>
              </a:rPr>
              <a:t>2</a:t>
            </a:r>
            <a:endParaRPr lang="en-US" sz="4000" dirty="0"/>
          </a:p>
        </p:txBody>
      </p:sp>
      <p:sp>
        <p:nvSpPr>
          <p:cNvPr id="23" name="Text 20"/>
          <p:cNvSpPr txBox="1"/>
          <p:nvPr/>
        </p:nvSpPr>
        <p:spPr>
          <a:xfrm>
            <a:off x="10104120" y="5349240"/>
            <a:ext cx="1371600" cy="384048"/>
          </a:xfrm>
          <a:prstGeom prst="rect">
            <a:avLst/>
          </a:prstGeom>
          <a:noFill/>
          <a:ln/>
        </p:spPr>
        <p:txBody>
          <a:bodyPr wrap="square" lIns="0" tIns="0" rIns="0" bIns="0" rtlCol="0" anchor="ctr"/>
          <a:lstStyle/>
          <a:p>
            <a:pPr indent="0" marL="0">
              <a:buNone/>
            </a:pPr>
            <a:r>
              <a:rPr lang="en-US" sz="1100" dirty="0">
                <a:solidFill>
                  <a:srgbClr val="64748B"/>
                </a:solidFill>
              </a:rPr>
              <a:t>MIGRATIONS</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How a change reaches production</a:t>
            </a:r>
            <a:endParaRPr lang="en-US" sz="3400" dirty="0"/>
          </a:p>
        </p:txBody>
      </p:sp>
      <p:sp>
        <p:nvSpPr>
          <p:cNvPr id="3" name="card-0.7-1.6"/>
          <p:cNvSpPr/>
          <p:nvPr/>
        </p:nvSpPr>
        <p:spPr>
          <a:xfrm>
            <a:off x="640080" y="1463040"/>
            <a:ext cx="1691640" cy="1234440"/>
          </a:xfrm>
          <a:prstGeom prst="roundRect">
            <a:avLst>
              <a:gd name="adj" fmla="val 5926"/>
            </a:avLst>
          </a:prstGeom>
          <a:solidFill>
            <a:srgbClr val="F1F5F9"/>
          </a:solidFill>
          <a:ln w="12700">
            <a:solidFill>
              <a:srgbClr val="E2E8F0"/>
            </a:solidFill>
            <a:prstDash val="solid"/>
          </a:ln>
        </p:spPr>
      </p:sp>
      <p:sp>
        <p:nvSpPr>
          <p:cNvPr id="4" name="Text 2"/>
          <p:cNvSpPr txBox="1"/>
          <p:nvPr/>
        </p:nvSpPr>
        <p:spPr>
          <a:xfrm>
            <a:off x="749808" y="1572768"/>
            <a:ext cx="365760" cy="274320"/>
          </a:xfrm>
          <a:prstGeom prst="rect">
            <a:avLst/>
          </a:prstGeom>
          <a:noFill/>
          <a:ln/>
        </p:spPr>
        <p:txBody>
          <a:bodyPr wrap="square" lIns="0" tIns="0" rIns="0" bIns="0" rtlCol="0" anchor="ctr"/>
          <a:lstStyle/>
          <a:p>
            <a:pPr indent="0" marL="0">
              <a:buNone/>
            </a:pPr>
            <a:r>
              <a:rPr lang="en-US" sz="1100" b="1" dirty="0">
                <a:solidFill>
                  <a:srgbClr val="0EA5A4"/>
                </a:solidFill>
              </a:rPr>
              <a:t>1</a:t>
            </a:r>
            <a:endParaRPr lang="en-US" sz="1100" dirty="0"/>
          </a:p>
        </p:txBody>
      </p:sp>
      <p:sp>
        <p:nvSpPr>
          <p:cNvPr id="5" name="Text 3"/>
          <p:cNvSpPr txBox="1"/>
          <p:nvPr/>
        </p:nvSpPr>
        <p:spPr>
          <a:xfrm>
            <a:off x="749808"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Commit</a:t>
            </a:r>
            <a:endParaRPr lang="en-US" sz="1400" dirty="0"/>
          </a:p>
        </p:txBody>
      </p:sp>
      <p:sp>
        <p:nvSpPr>
          <p:cNvPr id="6" name="Text 4"/>
          <p:cNvSpPr txBox="1"/>
          <p:nvPr/>
        </p:nvSpPr>
        <p:spPr>
          <a:xfrm>
            <a:off x="749808"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git push to main</a:t>
            </a:r>
            <a:endParaRPr lang="en-US" sz="1000" dirty="0"/>
          </a:p>
        </p:txBody>
      </p:sp>
      <p:sp>
        <p:nvSpPr>
          <p:cNvPr id="7" name="Text 5"/>
          <p:cNvSpPr txBox="1"/>
          <p:nvPr/>
        </p:nvSpPr>
        <p:spPr>
          <a:xfrm>
            <a:off x="2340864" y="1874520"/>
            <a:ext cx="201168" cy="274320"/>
          </a:xfrm>
          <a:prstGeom prst="rect">
            <a:avLst/>
          </a:prstGeom>
          <a:noFill/>
          <a:ln/>
        </p:spPr>
        <p:txBody>
          <a:bodyPr wrap="square" lIns="0" tIns="0" rIns="0" bIns="0" rtlCol="0" anchor="ctr"/>
          <a:lstStyle/>
          <a:p>
            <a:pPr algn="ctr" indent="0" marL="0">
              <a:buNone/>
            </a:pPr>
            <a:r>
              <a:rPr lang="en-US" sz="1600" dirty="0">
                <a:solidFill>
                  <a:srgbClr val="64748B"/>
                </a:solidFill>
              </a:rPr>
              <a:t>→</a:t>
            </a:r>
            <a:endParaRPr lang="en-US" sz="1600" dirty="0"/>
          </a:p>
        </p:txBody>
      </p:sp>
      <p:sp>
        <p:nvSpPr>
          <p:cNvPr id="8" name="card-2.7699999999999996-1.6"/>
          <p:cNvSpPr/>
          <p:nvPr/>
        </p:nvSpPr>
        <p:spPr>
          <a:xfrm>
            <a:off x="2532888" y="1463040"/>
            <a:ext cx="1691640" cy="1234440"/>
          </a:xfrm>
          <a:prstGeom prst="roundRect">
            <a:avLst>
              <a:gd name="adj" fmla="val 5926"/>
            </a:avLst>
          </a:prstGeom>
          <a:solidFill>
            <a:srgbClr val="F1F5F9"/>
          </a:solidFill>
          <a:ln w="12700">
            <a:solidFill>
              <a:srgbClr val="E2E8F0"/>
            </a:solidFill>
            <a:prstDash val="solid"/>
          </a:ln>
        </p:spPr>
      </p:sp>
      <p:sp>
        <p:nvSpPr>
          <p:cNvPr id="9" name="Text 7"/>
          <p:cNvSpPr txBox="1"/>
          <p:nvPr/>
        </p:nvSpPr>
        <p:spPr>
          <a:xfrm>
            <a:off x="2642616" y="1572768"/>
            <a:ext cx="365760" cy="274320"/>
          </a:xfrm>
          <a:prstGeom prst="rect">
            <a:avLst/>
          </a:prstGeom>
          <a:noFill/>
          <a:ln/>
        </p:spPr>
        <p:txBody>
          <a:bodyPr wrap="square" lIns="0" tIns="0" rIns="0" bIns="0" rtlCol="0" anchor="ctr"/>
          <a:lstStyle/>
          <a:p>
            <a:pPr indent="0" marL="0">
              <a:buNone/>
            </a:pPr>
            <a:r>
              <a:rPr lang="en-US" sz="1100" b="1" dirty="0">
                <a:solidFill>
                  <a:srgbClr val="0EA5A4"/>
                </a:solidFill>
              </a:rPr>
              <a:t>2</a:t>
            </a:r>
            <a:endParaRPr lang="en-US" sz="1100" dirty="0"/>
          </a:p>
        </p:txBody>
      </p:sp>
      <p:sp>
        <p:nvSpPr>
          <p:cNvPr id="10" name="Text 8"/>
          <p:cNvSpPr txBox="1"/>
          <p:nvPr/>
        </p:nvSpPr>
        <p:spPr>
          <a:xfrm>
            <a:off x="2642616"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CI</a:t>
            </a:r>
            <a:endParaRPr lang="en-US" sz="1400" dirty="0"/>
          </a:p>
        </p:txBody>
      </p:sp>
      <p:sp>
        <p:nvSpPr>
          <p:cNvPr id="11" name="Text 9"/>
          <p:cNvSpPr txBox="1"/>
          <p:nvPr/>
        </p:nvSpPr>
        <p:spPr>
          <a:xfrm>
            <a:off x="2642616"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tests, lint, build</a:t>
            </a:r>
            <a:endParaRPr lang="en-US" sz="1000" dirty="0"/>
          </a:p>
        </p:txBody>
      </p:sp>
      <p:sp>
        <p:nvSpPr>
          <p:cNvPr id="12" name="Text 10"/>
          <p:cNvSpPr txBox="1"/>
          <p:nvPr/>
        </p:nvSpPr>
        <p:spPr>
          <a:xfrm>
            <a:off x="4233672" y="1874520"/>
            <a:ext cx="201168" cy="274320"/>
          </a:xfrm>
          <a:prstGeom prst="rect">
            <a:avLst/>
          </a:prstGeom>
          <a:noFill/>
          <a:ln/>
        </p:spPr>
        <p:txBody>
          <a:bodyPr wrap="square" lIns="0" tIns="0" rIns="0" bIns="0" rtlCol="0" anchor="ctr"/>
          <a:lstStyle/>
          <a:p>
            <a:pPr algn="ctr" indent="0" marL="0">
              <a:buNone/>
            </a:pPr>
            <a:r>
              <a:rPr lang="en-US" sz="1600" dirty="0">
                <a:solidFill>
                  <a:srgbClr val="64748B"/>
                </a:solidFill>
              </a:rPr>
              <a:t>→</a:t>
            </a:r>
            <a:endParaRPr lang="en-US" sz="1600" dirty="0"/>
          </a:p>
        </p:txBody>
      </p:sp>
      <p:sp>
        <p:nvSpPr>
          <p:cNvPr id="13" name="card-4.84-1.6"/>
          <p:cNvSpPr/>
          <p:nvPr/>
        </p:nvSpPr>
        <p:spPr>
          <a:xfrm>
            <a:off x="4425696" y="1463040"/>
            <a:ext cx="1691640" cy="1234440"/>
          </a:xfrm>
          <a:prstGeom prst="roundRect">
            <a:avLst>
              <a:gd name="adj" fmla="val 5926"/>
            </a:avLst>
          </a:prstGeom>
          <a:solidFill>
            <a:srgbClr val="FEF3C7"/>
          </a:solidFill>
          <a:ln w="12700">
            <a:solidFill>
              <a:srgbClr val="E2E8F0"/>
            </a:solidFill>
            <a:prstDash val="solid"/>
          </a:ln>
        </p:spPr>
      </p:sp>
      <p:sp>
        <p:nvSpPr>
          <p:cNvPr id="14" name="Text 12"/>
          <p:cNvSpPr txBox="1"/>
          <p:nvPr/>
        </p:nvSpPr>
        <p:spPr>
          <a:xfrm>
            <a:off x="4535424" y="1572768"/>
            <a:ext cx="365760" cy="274320"/>
          </a:xfrm>
          <a:prstGeom prst="rect">
            <a:avLst/>
          </a:prstGeom>
          <a:noFill/>
          <a:ln/>
        </p:spPr>
        <p:txBody>
          <a:bodyPr wrap="square" lIns="0" tIns="0" rIns="0" bIns="0" rtlCol="0" anchor="ctr"/>
          <a:lstStyle/>
          <a:p>
            <a:pPr indent="0" marL="0">
              <a:buNone/>
            </a:pPr>
            <a:r>
              <a:rPr lang="en-US" sz="1100" b="1" dirty="0">
                <a:solidFill>
                  <a:srgbClr val="F59E0B"/>
                </a:solidFill>
              </a:rPr>
              <a:t>3</a:t>
            </a:r>
            <a:endParaRPr lang="en-US" sz="1100" dirty="0"/>
          </a:p>
        </p:txBody>
      </p:sp>
      <p:sp>
        <p:nvSpPr>
          <p:cNvPr id="15" name="Text 13"/>
          <p:cNvSpPr txBox="1"/>
          <p:nvPr/>
        </p:nvSpPr>
        <p:spPr>
          <a:xfrm>
            <a:off x="4535424"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Scan</a:t>
            </a:r>
            <a:endParaRPr lang="en-US" sz="1400" dirty="0"/>
          </a:p>
        </p:txBody>
      </p:sp>
      <p:sp>
        <p:nvSpPr>
          <p:cNvPr id="16" name="Text 14"/>
          <p:cNvSpPr txBox="1"/>
          <p:nvPr/>
        </p:nvSpPr>
        <p:spPr>
          <a:xfrm>
            <a:off x="4535424"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Trivy gate</a:t>
            </a:r>
            <a:endParaRPr lang="en-US" sz="1000" dirty="0"/>
          </a:p>
        </p:txBody>
      </p:sp>
      <p:sp>
        <p:nvSpPr>
          <p:cNvPr id="17" name="Text 15"/>
          <p:cNvSpPr txBox="1"/>
          <p:nvPr/>
        </p:nvSpPr>
        <p:spPr>
          <a:xfrm>
            <a:off x="6126480" y="1874520"/>
            <a:ext cx="201168" cy="274320"/>
          </a:xfrm>
          <a:prstGeom prst="rect">
            <a:avLst/>
          </a:prstGeom>
          <a:noFill/>
          <a:ln/>
        </p:spPr>
        <p:txBody>
          <a:bodyPr wrap="square" lIns="0" tIns="0" rIns="0" bIns="0" rtlCol="0" anchor="ctr"/>
          <a:lstStyle/>
          <a:p>
            <a:pPr algn="ctr" indent="0" marL="0">
              <a:buNone/>
            </a:pPr>
            <a:r>
              <a:rPr lang="en-US" sz="1600" dirty="0">
                <a:solidFill>
                  <a:srgbClr val="64748B"/>
                </a:solidFill>
              </a:rPr>
              <a:t>→</a:t>
            </a:r>
            <a:endParaRPr lang="en-US" sz="1600" dirty="0"/>
          </a:p>
        </p:txBody>
      </p:sp>
      <p:sp>
        <p:nvSpPr>
          <p:cNvPr id="18" name="card-6.909999999999999-1.6"/>
          <p:cNvSpPr/>
          <p:nvPr/>
        </p:nvSpPr>
        <p:spPr>
          <a:xfrm>
            <a:off x="6318504" y="1463040"/>
            <a:ext cx="1691640" cy="1234440"/>
          </a:xfrm>
          <a:prstGeom prst="roundRect">
            <a:avLst>
              <a:gd name="adj" fmla="val 5926"/>
            </a:avLst>
          </a:prstGeom>
          <a:solidFill>
            <a:srgbClr val="F1F5F9"/>
          </a:solidFill>
          <a:ln w="12700">
            <a:solidFill>
              <a:srgbClr val="E2E8F0"/>
            </a:solidFill>
            <a:prstDash val="solid"/>
          </a:ln>
        </p:spPr>
      </p:sp>
      <p:sp>
        <p:nvSpPr>
          <p:cNvPr id="19" name="Text 17"/>
          <p:cNvSpPr txBox="1"/>
          <p:nvPr/>
        </p:nvSpPr>
        <p:spPr>
          <a:xfrm>
            <a:off x="6428232" y="1572768"/>
            <a:ext cx="365760" cy="274320"/>
          </a:xfrm>
          <a:prstGeom prst="rect">
            <a:avLst/>
          </a:prstGeom>
          <a:noFill/>
          <a:ln/>
        </p:spPr>
        <p:txBody>
          <a:bodyPr wrap="square" lIns="0" tIns="0" rIns="0" bIns="0" rtlCol="0" anchor="ctr"/>
          <a:lstStyle/>
          <a:p>
            <a:pPr indent="0" marL="0">
              <a:buNone/>
            </a:pPr>
            <a:r>
              <a:rPr lang="en-US" sz="1100" b="1" dirty="0">
                <a:solidFill>
                  <a:srgbClr val="0EA5A4"/>
                </a:solidFill>
              </a:rPr>
              <a:t>4</a:t>
            </a:r>
            <a:endParaRPr lang="en-US" sz="1100" dirty="0"/>
          </a:p>
        </p:txBody>
      </p:sp>
      <p:sp>
        <p:nvSpPr>
          <p:cNvPr id="20" name="Text 18"/>
          <p:cNvSpPr txBox="1"/>
          <p:nvPr/>
        </p:nvSpPr>
        <p:spPr>
          <a:xfrm>
            <a:off x="6428232"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Registry</a:t>
            </a:r>
            <a:endParaRPr lang="en-US" sz="1400" dirty="0"/>
          </a:p>
        </p:txBody>
      </p:sp>
      <p:sp>
        <p:nvSpPr>
          <p:cNvPr id="21" name="Text 19"/>
          <p:cNvSpPr txBox="1"/>
          <p:nvPr/>
        </p:nvSpPr>
        <p:spPr>
          <a:xfrm>
            <a:off x="6428232"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GHCR, SHA tag</a:t>
            </a:r>
            <a:endParaRPr lang="en-US" sz="1000" dirty="0"/>
          </a:p>
        </p:txBody>
      </p:sp>
      <p:sp>
        <p:nvSpPr>
          <p:cNvPr id="22" name="Text 20"/>
          <p:cNvSpPr txBox="1"/>
          <p:nvPr/>
        </p:nvSpPr>
        <p:spPr>
          <a:xfrm>
            <a:off x="8019288" y="1874520"/>
            <a:ext cx="201168" cy="274320"/>
          </a:xfrm>
          <a:prstGeom prst="rect">
            <a:avLst/>
          </a:prstGeom>
          <a:noFill/>
          <a:ln/>
        </p:spPr>
        <p:txBody>
          <a:bodyPr wrap="square" lIns="0" tIns="0" rIns="0" bIns="0" rtlCol="0" anchor="ctr"/>
          <a:lstStyle/>
          <a:p>
            <a:pPr algn="ctr" indent="0" marL="0">
              <a:buNone/>
            </a:pPr>
            <a:r>
              <a:rPr lang="en-US" sz="1600" dirty="0">
                <a:solidFill>
                  <a:srgbClr val="64748B"/>
                </a:solidFill>
              </a:rPr>
              <a:t>→</a:t>
            </a:r>
            <a:endParaRPr lang="en-US" sz="1600" dirty="0"/>
          </a:p>
        </p:txBody>
      </p:sp>
      <p:sp>
        <p:nvSpPr>
          <p:cNvPr id="23" name="card-8.979999999999999-1.6"/>
          <p:cNvSpPr/>
          <p:nvPr/>
        </p:nvSpPr>
        <p:spPr>
          <a:xfrm>
            <a:off x="8211312" y="1463040"/>
            <a:ext cx="1691640" cy="1234440"/>
          </a:xfrm>
          <a:prstGeom prst="roundRect">
            <a:avLst>
              <a:gd name="adj" fmla="val 5926"/>
            </a:avLst>
          </a:prstGeom>
          <a:solidFill>
            <a:srgbClr val="F1F5F9"/>
          </a:solidFill>
          <a:ln w="12700">
            <a:solidFill>
              <a:srgbClr val="E2E8F0"/>
            </a:solidFill>
            <a:prstDash val="solid"/>
          </a:ln>
        </p:spPr>
      </p:sp>
      <p:sp>
        <p:nvSpPr>
          <p:cNvPr id="24" name="Text 22"/>
          <p:cNvSpPr txBox="1"/>
          <p:nvPr/>
        </p:nvSpPr>
        <p:spPr>
          <a:xfrm>
            <a:off x="8321040" y="1572768"/>
            <a:ext cx="365760" cy="274320"/>
          </a:xfrm>
          <a:prstGeom prst="rect">
            <a:avLst/>
          </a:prstGeom>
          <a:noFill/>
          <a:ln/>
        </p:spPr>
        <p:txBody>
          <a:bodyPr wrap="square" lIns="0" tIns="0" rIns="0" bIns="0" rtlCol="0" anchor="ctr"/>
          <a:lstStyle/>
          <a:p>
            <a:pPr indent="0" marL="0">
              <a:buNone/>
            </a:pPr>
            <a:r>
              <a:rPr lang="en-US" sz="1100" b="1" dirty="0">
                <a:solidFill>
                  <a:srgbClr val="0EA5A4"/>
                </a:solidFill>
              </a:rPr>
              <a:t>5</a:t>
            </a:r>
            <a:endParaRPr lang="en-US" sz="1100" dirty="0"/>
          </a:p>
        </p:txBody>
      </p:sp>
      <p:sp>
        <p:nvSpPr>
          <p:cNvPr id="25" name="Text 23"/>
          <p:cNvSpPr txBox="1"/>
          <p:nvPr/>
        </p:nvSpPr>
        <p:spPr>
          <a:xfrm>
            <a:off x="8321040"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Helm</a:t>
            </a:r>
            <a:endParaRPr lang="en-US" sz="1400" dirty="0"/>
          </a:p>
        </p:txBody>
      </p:sp>
      <p:sp>
        <p:nvSpPr>
          <p:cNvPr id="26" name="Text 24"/>
          <p:cNvSpPr txBox="1"/>
          <p:nvPr/>
        </p:nvSpPr>
        <p:spPr>
          <a:xfrm>
            <a:off x="8321040"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upgrade release</a:t>
            </a:r>
            <a:endParaRPr lang="en-US" sz="1000" dirty="0"/>
          </a:p>
        </p:txBody>
      </p:sp>
      <p:sp>
        <p:nvSpPr>
          <p:cNvPr id="27" name="Text 25"/>
          <p:cNvSpPr txBox="1"/>
          <p:nvPr/>
        </p:nvSpPr>
        <p:spPr>
          <a:xfrm>
            <a:off x="9912096" y="1874520"/>
            <a:ext cx="201168" cy="274320"/>
          </a:xfrm>
          <a:prstGeom prst="rect">
            <a:avLst/>
          </a:prstGeom>
          <a:noFill/>
          <a:ln/>
        </p:spPr>
        <p:txBody>
          <a:bodyPr wrap="square" lIns="0" tIns="0" rIns="0" bIns="0" rtlCol="0" anchor="ctr"/>
          <a:lstStyle/>
          <a:p>
            <a:pPr algn="ctr" indent="0" marL="0">
              <a:buNone/>
            </a:pPr>
            <a:r>
              <a:rPr lang="en-US" sz="1600" dirty="0">
                <a:solidFill>
                  <a:srgbClr val="64748B"/>
                </a:solidFill>
              </a:rPr>
              <a:t>→</a:t>
            </a:r>
            <a:endParaRPr lang="en-US" sz="1600" dirty="0"/>
          </a:p>
        </p:txBody>
      </p:sp>
      <p:sp>
        <p:nvSpPr>
          <p:cNvPr id="28" name="card-11.049999999999999-1.6"/>
          <p:cNvSpPr/>
          <p:nvPr/>
        </p:nvSpPr>
        <p:spPr>
          <a:xfrm>
            <a:off x="10104120" y="1463040"/>
            <a:ext cx="1691640" cy="1234440"/>
          </a:xfrm>
          <a:prstGeom prst="roundRect">
            <a:avLst>
              <a:gd name="adj" fmla="val 5926"/>
            </a:avLst>
          </a:prstGeom>
          <a:solidFill>
            <a:srgbClr val="F1F5F9"/>
          </a:solidFill>
          <a:ln w="12700">
            <a:solidFill>
              <a:srgbClr val="E2E8F0"/>
            </a:solidFill>
            <a:prstDash val="solid"/>
          </a:ln>
        </p:spPr>
      </p:sp>
      <p:sp>
        <p:nvSpPr>
          <p:cNvPr id="29" name="Text 27"/>
          <p:cNvSpPr txBox="1"/>
          <p:nvPr/>
        </p:nvSpPr>
        <p:spPr>
          <a:xfrm>
            <a:off x="10213848" y="1572768"/>
            <a:ext cx="365760" cy="274320"/>
          </a:xfrm>
          <a:prstGeom prst="rect">
            <a:avLst/>
          </a:prstGeom>
          <a:noFill/>
          <a:ln/>
        </p:spPr>
        <p:txBody>
          <a:bodyPr wrap="square" lIns="0" tIns="0" rIns="0" bIns="0" rtlCol="0" anchor="ctr"/>
          <a:lstStyle/>
          <a:p>
            <a:pPr indent="0" marL="0">
              <a:buNone/>
            </a:pPr>
            <a:r>
              <a:rPr lang="en-US" sz="1100" b="1" dirty="0">
                <a:solidFill>
                  <a:srgbClr val="0EA5A4"/>
                </a:solidFill>
              </a:rPr>
              <a:t>6</a:t>
            </a:r>
            <a:endParaRPr lang="en-US" sz="1100" dirty="0"/>
          </a:p>
        </p:txBody>
      </p:sp>
      <p:sp>
        <p:nvSpPr>
          <p:cNvPr id="30" name="Text 28"/>
          <p:cNvSpPr txBox="1"/>
          <p:nvPr/>
        </p:nvSpPr>
        <p:spPr>
          <a:xfrm>
            <a:off x="10213848" y="1874520"/>
            <a:ext cx="1463040" cy="274320"/>
          </a:xfrm>
          <a:prstGeom prst="rect">
            <a:avLst/>
          </a:prstGeom>
          <a:noFill/>
          <a:ln/>
        </p:spPr>
        <p:txBody>
          <a:bodyPr wrap="square" lIns="0" tIns="0" rIns="0" bIns="0" rtlCol="0" anchor="ctr"/>
          <a:lstStyle/>
          <a:p>
            <a:pPr indent="0" marL="0">
              <a:buNone/>
            </a:pPr>
            <a:r>
              <a:rPr lang="en-US" sz="1400" b="1" dirty="0">
                <a:solidFill>
                  <a:schemeClr val="tx1"/>
                </a:solidFill>
              </a:rPr>
              <a:t>Cluster</a:t>
            </a:r>
            <a:endParaRPr lang="en-US" sz="1400" dirty="0"/>
          </a:p>
        </p:txBody>
      </p:sp>
      <p:sp>
        <p:nvSpPr>
          <p:cNvPr id="31" name="Text 29"/>
          <p:cNvSpPr txBox="1"/>
          <p:nvPr/>
        </p:nvSpPr>
        <p:spPr>
          <a:xfrm>
            <a:off x="10213848" y="2176272"/>
            <a:ext cx="1463040" cy="411480"/>
          </a:xfrm>
          <a:prstGeom prst="rect">
            <a:avLst/>
          </a:prstGeom>
          <a:noFill/>
          <a:ln/>
        </p:spPr>
        <p:txBody>
          <a:bodyPr wrap="square" lIns="0" tIns="0" rIns="0" bIns="0" rtlCol="0" anchor="ctr"/>
          <a:lstStyle/>
          <a:p>
            <a:pPr indent="0" marL="0">
              <a:buNone/>
            </a:pPr>
            <a:r>
              <a:rPr lang="en-US" sz="1000" dirty="0">
                <a:solidFill>
                  <a:srgbClr val="64748B"/>
                </a:solidFill>
              </a:rPr>
              <a:t>rolling update</a:t>
            </a:r>
            <a:endParaRPr lang="en-US" sz="1000" dirty="0"/>
          </a:p>
        </p:txBody>
      </p:sp>
      <p:sp>
        <p:nvSpPr>
          <p:cNvPr id="32" name="Text 30"/>
          <p:cNvSpPr txBox="1"/>
          <p:nvPr/>
        </p:nvSpPr>
        <p:spPr>
          <a:xfrm>
            <a:off x="640080" y="3063240"/>
            <a:ext cx="10972800" cy="274320"/>
          </a:xfrm>
          <a:prstGeom prst="rect">
            <a:avLst/>
          </a:prstGeom>
          <a:noFill/>
          <a:ln/>
        </p:spPr>
        <p:txBody>
          <a:bodyPr wrap="square" lIns="0" tIns="0" rIns="0" bIns="0" rtlCol="0" anchor="ctr"/>
          <a:lstStyle/>
          <a:p>
            <a:pPr indent="0" marL="0">
              <a:buNone/>
            </a:pPr>
            <a:r>
              <a:rPr lang="en-US" sz="1300" b="1" dirty="0">
                <a:solidFill>
                  <a:schemeClr val="tx1"/>
                </a:solidFill>
              </a:rPr>
              <a:t>Observability and infrastructure sit either side of that chain</a:t>
            </a:r>
            <a:endParaRPr lang="en-US" sz="1300" dirty="0"/>
          </a:p>
        </p:txBody>
      </p:sp>
      <p:sp>
        <p:nvSpPr>
          <p:cNvPr id="33" name="card-0.7-3.8"/>
          <p:cNvSpPr/>
          <p:nvPr/>
        </p:nvSpPr>
        <p:spPr>
          <a:xfrm>
            <a:off x="640080" y="3474720"/>
            <a:ext cx="3520440" cy="1371600"/>
          </a:xfrm>
          <a:prstGeom prst="roundRect">
            <a:avLst>
              <a:gd name="adj" fmla="val 5333"/>
            </a:avLst>
          </a:prstGeom>
          <a:solidFill>
            <a:srgbClr val="F1F5F9"/>
          </a:solidFill>
          <a:ln w="12700">
            <a:solidFill>
              <a:srgbClr val="E2E8F0"/>
            </a:solidFill>
            <a:prstDash val="solid"/>
          </a:ln>
        </p:spPr>
      </p:sp>
      <p:sp>
        <p:nvSpPr>
          <p:cNvPr id="34" name="dot-0.8999999999999999-4"/>
          <p:cNvSpPr/>
          <p:nvPr/>
        </p:nvSpPr>
        <p:spPr>
          <a:xfrm>
            <a:off x="822960" y="3657600"/>
            <a:ext cx="274320" cy="274320"/>
          </a:xfrm>
          <a:prstGeom prst="ellipse">
            <a:avLst/>
          </a:prstGeom>
          <a:solidFill>
            <a:srgbClr val="0EA5A4"/>
          </a:solidFill>
          <a:ln w="12700">
            <a:solidFill>
              <a:srgbClr val="0EA5A4"/>
            </a:solidFill>
            <a:prstDash val="solid"/>
          </a:ln>
        </p:spPr>
      </p:sp>
      <p:sp>
        <p:nvSpPr>
          <p:cNvPr id="35" name="Text 33"/>
          <p:cNvSpPr txBox="1"/>
          <p:nvPr/>
        </p:nvSpPr>
        <p:spPr>
          <a:xfrm>
            <a:off x="1188720" y="3630168"/>
            <a:ext cx="2834640" cy="274320"/>
          </a:xfrm>
          <a:prstGeom prst="rect">
            <a:avLst/>
          </a:prstGeom>
          <a:noFill/>
          <a:ln/>
        </p:spPr>
        <p:txBody>
          <a:bodyPr wrap="square" lIns="0" tIns="0" rIns="0" bIns="0" rtlCol="0" anchor="ctr"/>
          <a:lstStyle/>
          <a:p>
            <a:pPr indent="0" marL="0">
              <a:buNone/>
            </a:pPr>
            <a:r>
              <a:rPr lang="en-US" sz="1300" b="1" dirty="0">
                <a:solidFill>
                  <a:schemeClr val="tx1"/>
                </a:solidFill>
              </a:rPr>
              <a:t>Prometheus + Grafana</a:t>
            </a:r>
            <a:endParaRPr lang="en-US" sz="1300" dirty="0"/>
          </a:p>
        </p:txBody>
      </p:sp>
      <p:sp>
        <p:nvSpPr>
          <p:cNvPr id="36" name="Text 34"/>
          <p:cNvSpPr txBox="1"/>
          <p:nvPr/>
        </p:nvSpPr>
        <p:spPr>
          <a:xfrm>
            <a:off x="822960" y="4023360"/>
            <a:ext cx="3154680" cy="731520"/>
          </a:xfrm>
          <a:prstGeom prst="rect">
            <a:avLst/>
          </a:prstGeom>
          <a:noFill/>
          <a:ln/>
        </p:spPr>
        <p:txBody>
          <a:bodyPr wrap="square" lIns="0" tIns="0" rIns="0" bIns="0" rtlCol="0" anchor="ctr"/>
          <a:lstStyle/>
          <a:p>
            <a:pPr indent="0" marL="0">
              <a:buNone/>
            </a:pPr>
            <a:r>
              <a:rPr lang="en-US" sz="1100" dirty="0">
                <a:solidFill>
                  <a:srgbClr val="64748B"/>
                </a:solidFill>
              </a:rPr>
              <a:t>scrapes the application's own /metrics; 23 panels on request rate, error ratio and latency</a:t>
            </a:r>
            <a:endParaRPr lang="en-US" sz="1100" dirty="0"/>
          </a:p>
        </p:txBody>
      </p:sp>
      <p:sp>
        <p:nvSpPr>
          <p:cNvPr id="37" name="card-4.8-3.8"/>
          <p:cNvSpPr/>
          <p:nvPr/>
        </p:nvSpPr>
        <p:spPr>
          <a:xfrm>
            <a:off x="4389120" y="3474720"/>
            <a:ext cx="3520440" cy="1371600"/>
          </a:xfrm>
          <a:prstGeom prst="roundRect">
            <a:avLst>
              <a:gd name="adj" fmla="val 5333"/>
            </a:avLst>
          </a:prstGeom>
          <a:solidFill>
            <a:srgbClr val="F1F5F9"/>
          </a:solidFill>
          <a:ln w="12700">
            <a:solidFill>
              <a:srgbClr val="E2E8F0"/>
            </a:solidFill>
            <a:prstDash val="solid"/>
          </a:ln>
        </p:spPr>
      </p:sp>
      <p:sp>
        <p:nvSpPr>
          <p:cNvPr id="38" name="dot-5-4"/>
          <p:cNvSpPr/>
          <p:nvPr/>
        </p:nvSpPr>
        <p:spPr>
          <a:xfrm>
            <a:off x="4572000" y="3657600"/>
            <a:ext cx="274320" cy="274320"/>
          </a:xfrm>
          <a:prstGeom prst="ellipse">
            <a:avLst/>
          </a:prstGeom>
          <a:solidFill>
            <a:srgbClr val="065A82"/>
          </a:solidFill>
          <a:ln w="12700">
            <a:solidFill>
              <a:srgbClr val="065A82"/>
            </a:solidFill>
            <a:prstDash val="solid"/>
          </a:ln>
        </p:spPr>
      </p:sp>
      <p:sp>
        <p:nvSpPr>
          <p:cNvPr id="39" name="Text 37"/>
          <p:cNvSpPr txBox="1"/>
          <p:nvPr/>
        </p:nvSpPr>
        <p:spPr>
          <a:xfrm>
            <a:off x="4937760" y="3630168"/>
            <a:ext cx="2834640" cy="274320"/>
          </a:xfrm>
          <a:prstGeom prst="rect">
            <a:avLst/>
          </a:prstGeom>
          <a:noFill/>
          <a:ln/>
        </p:spPr>
        <p:txBody>
          <a:bodyPr wrap="square" lIns="0" tIns="0" rIns="0" bIns="0" rtlCol="0" anchor="ctr"/>
          <a:lstStyle/>
          <a:p>
            <a:pPr indent="0" marL="0">
              <a:buNone/>
            </a:pPr>
            <a:r>
              <a:rPr lang="en-US" sz="1300" b="1" dirty="0">
                <a:solidFill>
                  <a:schemeClr val="tx1"/>
                </a:solidFill>
              </a:rPr>
              <a:t>Terraform</a:t>
            </a:r>
            <a:endParaRPr lang="en-US" sz="1300" dirty="0"/>
          </a:p>
        </p:txBody>
      </p:sp>
      <p:sp>
        <p:nvSpPr>
          <p:cNvPr id="40" name="Text 38"/>
          <p:cNvSpPr txBox="1"/>
          <p:nvPr/>
        </p:nvSpPr>
        <p:spPr>
          <a:xfrm>
            <a:off x="4572000" y="4023360"/>
            <a:ext cx="3154680" cy="731520"/>
          </a:xfrm>
          <a:prstGeom prst="rect">
            <a:avLst/>
          </a:prstGeom>
          <a:noFill/>
          <a:ln/>
        </p:spPr>
        <p:txBody>
          <a:bodyPr wrap="square" lIns="0" tIns="0" rIns="0" bIns="0" rtlCol="0" anchor="ctr"/>
          <a:lstStyle/>
          <a:p>
            <a:pPr indent="0" marL="0">
              <a:buNone/>
            </a:pPr>
            <a:r>
              <a:rPr lang="en-US" sz="1100" dirty="0">
                <a:solidFill>
                  <a:srgbClr val="64748B"/>
                </a:solidFill>
              </a:rPr>
              <a:t>VPC, subnets, security groups and an EKS cluster described as code</a:t>
            </a:r>
            <a:endParaRPr lang="en-US" sz="1100" dirty="0"/>
          </a:p>
        </p:txBody>
      </p:sp>
      <p:sp>
        <p:nvSpPr>
          <p:cNvPr id="41" name="card-8.899999999999999-3.8"/>
          <p:cNvSpPr/>
          <p:nvPr/>
        </p:nvSpPr>
        <p:spPr>
          <a:xfrm>
            <a:off x="8138160" y="3474720"/>
            <a:ext cx="3520440" cy="1371600"/>
          </a:xfrm>
          <a:prstGeom prst="roundRect">
            <a:avLst>
              <a:gd name="adj" fmla="val 5333"/>
            </a:avLst>
          </a:prstGeom>
          <a:solidFill>
            <a:srgbClr val="F1F5F9"/>
          </a:solidFill>
          <a:ln w="12700">
            <a:solidFill>
              <a:srgbClr val="E2E8F0"/>
            </a:solidFill>
            <a:prstDash val="solid"/>
          </a:ln>
        </p:spPr>
      </p:sp>
      <p:sp>
        <p:nvSpPr>
          <p:cNvPr id="42" name="dot-9.099999999999998-4"/>
          <p:cNvSpPr/>
          <p:nvPr/>
        </p:nvSpPr>
        <p:spPr>
          <a:xfrm>
            <a:off x="8321040" y="3657600"/>
            <a:ext cx="274320" cy="274320"/>
          </a:xfrm>
          <a:prstGeom prst="ellipse">
            <a:avLst/>
          </a:prstGeom>
          <a:solidFill>
            <a:srgbClr val="1C7293"/>
          </a:solidFill>
          <a:ln w="12700">
            <a:solidFill>
              <a:srgbClr val="1C7293"/>
            </a:solidFill>
            <a:prstDash val="solid"/>
          </a:ln>
        </p:spPr>
      </p:sp>
      <p:sp>
        <p:nvSpPr>
          <p:cNvPr id="43" name="Text 41"/>
          <p:cNvSpPr txBox="1"/>
          <p:nvPr/>
        </p:nvSpPr>
        <p:spPr>
          <a:xfrm>
            <a:off x="8686800" y="3630168"/>
            <a:ext cx="2834640" cy="274320"/>
          </a:xfrm>
          <a:prstGeom prst="rect">
            <a:avLst/>
          </a:prstGeom>
          <a:noFill/>
          <a:ln/>
        </p:spPr>
        <p:txBody>
          <a:bodyPr wrap="square" lIns="0" tIns="0" rIns="0" bIns="0" rtlCol="0" anchor="ctr"/>
          <a:lstStyle/>
          <a:p>
            <a:pPr indent="0" marL="0">
              <a:buNone/>
            </a:pPr>
            <a:r>
              <a:rPr lang="en-US" sz="1300" b="1" dirty="0">
                <a:solidFill>
                  <a:schemeClr val="tx1"/>
                </a:solidFill>
              </a:rPr>
              <a:t>Helm</a:t>
            </a:r>
            <a:endParaRPr lang="en-US" sz="1300" dirty="0"/>
          </a:p>
        </p:txBody>
      </p:sp>
      <p:sp>
        <p:nvSpPr>
          <p:cNvPr id="44" name="Text 42"/>
          <p:cNvSpPr txBox="1"/>
          <p:nvPr/>
        </p:nvSpPr>
        <p:spPr>
          <a:xfrm>
            <a:off x="8321040" y="4023360"/>
            <a:ext cx="3154680" cy="731520"/>
          </a:xfrm>
          <a:prstGeom prst="rect">
            <a:avLst/>
          </a:prstGeom>
          <a:noFill/>
          <a:ln/>
        </p:spPr>
        <p:txBody>
          <a:bodyPr wrap="square" lIns="0" tIns="0" rIns="0" bIns="0" rtlCol="0" anchor="ctr"/>
          <a:lstStyle/>
          <a:p>
            <a:pPr indent="0" marL="0">
              <a:buNone/>
            </a:pPr>
            <a:r>
              <a:rPr lang="en-US" sz="1100" dirty="0">
                <a:solidFill>
                  <a:srgbClr val="64748B"/>
                </a:solidFill>
              </a:rPr>
              <a:t>one chart, eleven revisions, install through rollback to image upgrade</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Tests, and why they cannot touch real data</a:t>
            </a:r>
            <a:endParaRPr lang="en-US" sz="3400" dirty="0"/>
          </a:p>
        </p:txBody>
      </p:sp>
      <p:sp>
        <p:nvSpPr>
          <p:cNvPr id="3" name="card-0.7-1.45"/>
          <p:cNvSpPr/>
          <p:nvPr/>
        </p:nvSpPr>
        <p:spPr>
          <a:xfrm>
            <a:off x="640080" y="1325880"/>
            <a:ext cx="2560320" cy="1371600"/>
          </a:xfrm>
          <a:prstGeom prst="roundRect">
            <a:avLst>
              <a:gd name="adj" fmla="val 5333"/>
            </a:avLst>
          </a:prstGeom>
          <a:solidFill>
            <a:srgbClr val="F1F5F9"/>
          </a:solidFill>
          <a:ln w="12700">
            <a:solidFill>
              <a:srgbClr val="E2E8F0"/>
            </a:solidFill>
            <a:prstDash val="solid"/>
          </a:ln>
        </p:spPr>
      </p:sp>
      <p:sp>
        <p:nvSpPr>
          <p:cNvPr id="4" name="Text 2"/>
          <p:cNvSpPr txBox="1"/>
          <p:nvPr/>
        </p:nvSpPr>
        <p:spPr>
          <a:xfrm>
            <a:off x="777240" y="1490472"/>
            <a:ext cx="2286000" cy="658368"/>
          </a:xfrm>
          <a:prstGeom prst="rect">
            <a:avLst/>
          </a:prstGeom>
          <a:noFill/>
          <a:ln/>
        </p:spPr>
        <p:txBody>
          <a:bodyPr wrap="square" lIns="0" tIns="0" rIns="0" bIns="0" rtlCol="0" anchor="ctr"/>
          <a:lstStyle/>
          <a:p>
            <a:pPr indent="0" marL="0">
              <a:buNone/>
            </a:pPr>
            <a:r>
              <a:rPr lang="en-US" sz="4000" b="1" dirty="0">
                <a:solidFill>
                  <a:srgbClr val="22C55E"/>
                </a:solidFill>
              </a:rPr>
              <a:t>40</a:t>
            </a:r>
            <a:endParaRPr lang="en-US" sz="4000" dirty="0"/>
          </a:p>
        </p:txBody>
      </p:sp>
      <p:sp>
        <p:nvSpPr>
          <p:cNvPr id="5" name="Text 3"/>
          <p:cNvSpPr txBox="1"/>
          <p:nvPr/>
        </p:nvSpPr>
        <p:spPr>
          <a:xfrm>
            <a:off x="777240" y="2194560"/>
            <a:ext cx="2286000" cy="384048"/>
          </a:xfrm>
          <a:prstGeom prst="rect">
            <a:avLst/>
          </a:prstGeom>
          <a:noFill/>
          <a:ln/>
        </p:spPr>
        <p:txBody>
          <a:bodyPr wrap="square" lIns="0" tIns="0" rIns="0" bIns="0" rtlCol="0" anchor="ctr"/>
          <a:lstStyle/>
          <a:p>
            <a:pPr indent="0" marL="0">
              <a:buNone/>
            </a:pPr>
            <a:r>
              <a:rPr lang="en-US" sz="1100" dirty="0">
                <a:solidFill>
                  <a:srgbClr val="64748B"/>
                </a:solidFill>
              </a:rPr>
              <a:t>TESTS, ALL PASSING</a:t>
            </a:r>
            <a:endParaRPr lang="en-US" sz="1100" dirty="0"/>
          </a:p>
        </p:txBody>
      </p:sp>
      <p:sp>
        <p:nvSpPr>
          <p:cNvPr id="6" name="card-3.65-1.45"/>
          <p:cNvSpPr/>
          <p:nvPr/>
        </p:nvSpPr>
        <p:spPr>
          <a:xfrm>
            <a:off x="3337560" y="1325880"/>
            <a:ext cx="2560320" cy="1371600"/>
          </a:xfrm>
          <a:prstGeom prst="roundRect">
            <a:avLst>
              <a:gd name="adj" fmla="val 5333"/>
            </a:avLst>
          </a:prstGeom>
          <a:solidFill>
            <a:srgbClr val="F1F5F9"/>
          </a:solidFill>
          <a:ln w="12700">
            <a:solidFill>
              <a:srgbClr val="E2E8F0"/>
            </a:solidFill>
            <a:prstDash val="solid"/>
          </a:ln>
        </p:spPr>
      </p:sp>
      <p:sp>
        <p:nvSpPr>
          <p:cNvPr id="7" name="Text 5"/>
          <p:cNvSpPr txBox="1"/>
          <p:nvPr/>
        </p:nvSpPr>
        <p:spPr>
          <a:xfrm>
            <a:off x="3474720" y="1490472"/>
            <a:ext cx="2286000" cy="658368"/>
          </a:xfrm>
          <a:prstGeom prst="rect">
            <a:avLst/>
          </a:prstGeom>
          <a:noFill/>
          <a:ln/>
        </p:spPr>
        <p:txBody>
          <a:bodyPr wrap="square" lIns="0" tIns="0" rIns="0" bIns="0" rtlCol="0" anchor="ctr"/>
          <a:lstStyle/>
          <a:p>
            <a:pPr indent="0" marL="0">
              <a:buNone/>
            </a:pPr>
            <a:r>
              <a:rPr lang="en-US" sz="4000" b="1" dirty="0">
                <a:solidFill>
                  <a:srgbClr val="22C55E"/>
                </a:solidFill>
              </a:rPr>
              <a:t>98%</a:t>
            </a:r>
            <a:endParaRPr lang="en-US" sz="4000" dirty="0"/>
          </a:p>
        </p:txBody>
      </p:sp>
      <p:sp>
        <p:nvSpPr>
          <p:cNvPr id="8" name="Text 6"/>
          <p:cNvSpPr txBox="1"/>
          <p:nvPr/>
        </p:nvSpPr>
        <p:spPr>
          <a:xfrm>
            <a:off x="3474720" y="2194560"/>
            <a:ext cx="2286000" cy="384048"/>
          </a:xfrm>
          <a:prstGeom prst="rect">
            <a:avLst/>
          </a:prstGeom>
          <a:noFill/>
          <a:ln/>
        </p:spPr>
        <p:txBody>
          <a:bodyPr wrap="square" lIns="0" tIns="0" rIns="0" bIns="0" rtlCol="0" anchor="ctr"/>
          <a:lstStyle/>
          <a:p>
            <a:pPr indent="0" marL="0">
              <a:buNone/>
            </a:pPr>
            <a:r>
              <a:rPr lang="en-US" sz="1100" dirty="0">
                <a:solidFill>
                  <a:srgbClr val="64748B"/>
                </a:solidFill>
              </a:rPr>
              <a:t>COVERAGE</a:t>
            </a:r>
            <a:endParaRPr lang="en-US" sz="1100" dirty="0"/>
          </a:p>
        </p:txBody>
      </p:sp>
      <p:sp>
        <p:nvSpPr>
          <p:cNvPr id="9" name="card-6.6-1.45"/>
          <p:cNvSpPr/>
          <p:nvPr/>
        </p:nvSpPr>
        <p:spPr>
          <a:xfrm>
            <a:off x="6035040" y="1325880"/>
            <a:ext cx="2560320" cy="1371600"/>
          </a:xfrm>
          <a:prstGeom prst="roundRect">
            <a:avLst>
              <a:gd name="adj" fmla="val 5333"/>
            </a:avLst>
          </a:prstGeom>
          <a:solidFill>
            <a:srgbClr val="F1F5F9"/>
          </a:solidFill>
          <a:ln w="12700">
            <a:solidFill>
              <a:srgbClr val="E2E8F0"/>
            </a:solidFill>
            <a:prstDash val="solid"/>
          </a:ln>
        </p:spPr>
      </p:sp>
      <p:sp>
        <p:nvSpPr>
          <p:cNvPr id="10" name="Text 8"/>
          <p:cNvSpPr txBox="1"/>
          <p:nvPr/>
        </p:nvSpPr>
        <p:spPr>
          <a:xfrm>
            <a:off x="6172200" y="1490472"/>
            <a:ext cx="2286000" cy="658368"/>
          </a:xfrm>
          <a:prstGeom prst="rect">
            <a:avLst/>
          </a:prstGeom>
          <a:noFill/>
          <a:ln/>
        </p:spPr>
        <p:txBody>
          <a:bodyPr wrap="square" lIns="0" tIns="0" rIns="0" bIns="0" rtlCol="0" anchor="ctr"/>
          <a:lstStyle/>
          <a:p>
            <a:pPr indent="0" marL="0">
              <a:buNone/>
            </a:pPr>
            <a:r>
              <a:rPr lang="en-US" sz="4000" b="1" dirty="0">
                <a:solidFill>
                  <a:srgbClr val="64748B"/>
                </a:solidFill>
              </a:rPr>
              <a:t>5</a:t>
            </a:r>
            <a:endParaRPr lang="en-US" sz="4000" dirty="0"/>
          </a:p>
        </p:txBody>
      </p:sp>
      <p:sp>
        <p:nvSpPr>
          <p:cNvPr id="11" name="Text 9"/>
          <p:cNvSpPr txBox="1"/>
          <p:nvPr/>
        </p:nvSpPr>
        <p:spPr>
          <a:xfrm>
            <a:off x="6172200" y="2194560"/>
            <a:ext cx="2286000" cy="384048"/>
          </a:xfrm>
          <a:prstGeom prst="rect">
            <a:avLst/>
          </a:prstGeom>
          <a:noFill/>
          <a:ln/>
        </p:spPr>
        <p:txBody>
          <a:bodyPr wrap="square" lIns="0" tIns="0" rIns="0" bIns="0" rtlCol="0" anchor="ctr"/>
          <a:lstStyle/>
          <a:p>
            <a:pPr indent="0" marL="0">
              <a:buNone/>
            </a:pPr>
            <a:r>
              <a:rPr lang="en-US" sz="1100" dirty="0">
                <a:solidFill>
                  <a:srgbClr val="64748B"/>
                </a:solidFill>
              </a:rPr>
              <a:t>REQUIRED BY RUBRIC</a:t>
            </a:r>
            <a:endParaRPr lang="en-US" sz="1100" dirty="0"/>
          </a:p>
        </p:txBody>
      </p:sp>
      <p:sp>
        <p:nvSpPr>
          <p:cNvPr id="12" name="card-9.55-1.45"/>
          <p:cNvSpPr/>
          <p:nvPr/>
        </p:nvSpPr>
        <p:spPr>
          <a:xfrm>
            <a:off x="8732520" y="1325880"/>
            <a:ext cx="2880360" cy="1371600"/>
          </a:xfrm>
          <a:prstGeom prst="roundRect">
            <a:avLst>
              <a:gd name="adj" fmla="val 5333"/>
            </a:avLst>
          </a:prstGeom>
          <a:solidFill>
            <a:srgbClr val="F1F5F9"/>
          </a:solidFill>
          <a:ln w="12700">
            <a:solidFill>
              <a:srgbClr val="E2E8F0"/>
            </a:solidFill>
            <a:prstDash val="solid"/>
          </a:ln>
        </p:spPr>
      </p:sp>
      <p:sp>
        <p:nvSpPr>
          <p:cNvPr id="13" name="Text 11"/>
          <p:cNvSpPr txBox="1"/>
          <p:nvPr/>
        </p:nvSpPr>
        <p:spPr>
          <a:xfrm>
            <a:off x="8869680" y="1490472"/>
            <a:ext cx="2606040" cy="658368"/>
          </a:xfrm>
          <a:prstGeom prst="rect">
            <a:avLst/>
          </a:prstGeom>
          <a:noFill/>
          <a:ln/>
        </p:spPr>
        <p:txBody>
          <a:bodyPr wrap="square" lIns="0" tIns="0" rIns="0" bIns="0" rtlCol="0" anchor="ctr"/>
          <a:lstStyle/>
          <a:p>
            <a:pPr indent="0" marL="0">
              <a:buNone/>
            </a:pPr>
            <a:r>
              <a:rPr lang="en-US" sz="4000" b="1" dirty="0">
                <a:solidFill>
                  <a:srgbClr val="22C55E"/>
                </a:solidFill>
              </a:rPr>
              <a:t>100%</a:t>
            </a:r>
            <a:endParaRPr lang="en-US" sz="4000" dirty="0"/>
          </a:p>
        </p:txBody>
      </p:sp>
      <p:sp>
        <p:nvSpPr>
          <p:cNvPr id="14" name="Text 12"/>
          <p:cNvSpPr txBox="1"/>
          <p:nvPr/>
        </p:nvSpPr>
        <p:spPr>
          <a:xfrm>
            <a:off x="8869680" y="2194560"/>
            <a:ext cx="2606040" cy="384048"/>
          </a:xfrm>
          <a:prstGeom prst="rect">
            <a:avLst/>
          </a:prstGeom>
          <a:noFill/>
          <a:ln/>
        </p:spPr>
        <p:txBody>
          <a:bodyPr wrap="square" lIns="0" tIns="0" rIns="0" bIns="0" rtlCol="0" anchor="ctr"/>
          <a:lstStyle/>
          <a:p>
            <a:pPr indent="0" marL="0">
              <a:buNone/>
            </a:pPr>
            <a:r>
              <a:rPr lang="en-US" sz="1100" dirty="0">
                <a:solidFill>
                  <a:srgbClr val="64748B"/>
                </a:solidFill>
              </a:rPr>
              <a:t>ON app/main.py</a:t>
            </a:r>
            <a:endParaRPr lang="en-US" sz="1100" dirty="0"/>
          </a:p>
        </p:txBody>
      </p:sp>
      <p:sp>
        <p:nvSpPr>
          <p:cNvPr id="15" name="card-0.7-3.25"/>
          <p:cNvSpPr/>
          <p:nvPr/>
        </p:nvSpPr>
        <p:spPr>
          <a:xfrm>
            <a:off x="640080" y="2971800"/>
            <a:ext cx="10972800" cy="2286000"/>
          </a:xfrm>
          <a:prstGeom prst="roundRect">
            <a:avLst>
              <a:gd name="adj" fmla="val 3200"/>
            </a:avLst>
          </a:prstGeom>
          <a:solidFill>
            <a:srgbClr val="F1F5F9"/>
          </a:solidFill>
          <a:ln w="12700">
            <a:solidFill>
              <a:srgbClr val="E2E8F0"/>
            </a:solidFill>
            <a:prstDash val="solid"/>
          </a:ln>
        </p:spPr>
      </p:sp>
      <p:sp>
        <p:nvSpPr>
          <p:cNvPr id="16" name="Text 14"/>
          <p:cNvSpPr txBox="1"/>
          <p:nvPr/>
        </p:nvSpPr>
        <p:spPr>
          <a:xfrm>
            <a:off x="914400" y="3154680"/>
            <a:ext cx="10424160" cy="320040"/>
          </a:xfrm>
          <a:prstGeom prst="rect">
            <a:avLst/>
          </a:prstGeom>
          <a:noFill/>
          <a:ln/>
        </p:spPr>
        <p:txBody>
          <a:bodyPr wrap="square" lIns="0" tIns="0" rIns="0" bIns="0" rtlCol="0" anchor="ctr"/>
          <a:lstStyle/>
          <a:p>
            <a:pPr indent="0" marL="0">
              <a:buNone/>
            </a:pPr>
            <a:r>
              <a:rPr lang="en-US" sz="1600" b="1" dirty="0">
                <a:solidFill>
                  <a:schemeClr val="tx1"/>
                </a:solidFill>
              </a:rPr>
              <a:t>The interesting part is isolation</a:t>
            </a:r>
            <a:endParaRPr lang="en-US" sz="1600" dirty="0"/>
          </a:p>
        </p:txBody>
      </p:sp>
      <p:sp>
        <p:nvSpPr>
          <p:cNvPr id="17" name="Text 15"/>
          <p:cNvSpPr txBox="1"/>
          <p:nvPr/>
        </p:nvSpPr>
        <p:spPr>
          <a:xfrm>
            <a:off x="914400" y="3566160"/>
            <a:ext cx="10424160" cy="155448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chemeClr val="tx1"/>
                </a:solidFill>
              </a:rPr>
              <a:t>conftest.py resolves the test database before the application is imported</a:t>
            </a:r>
            <a:endParaRPr lang="en-US" sz="1300" dirty="0"/>
          </a:p>
          <a:p>
            <a:pPr marL="342900" indent="-342900">
              <a:spcAft>
                <a:spcPts val="600"/>
              </a:spcAft>
              <a:buSzPct val="100000"/>
              <a:buChar char="•"/>
            </a:pPr>
            <a:r>
              <a:rPr lang="en-US" sz="1300" dirty="0">
                <a:solidFill>
                  <a:schemeClr val="tx1"/>
                </a:solidFill>
              </a:rPr>
              <a:t>If that URL ever resolves to the production DATABASE_URL it raises at import rather than running</a:t>
            </a:r>
            <a:endParaRPr lang="en-US" sz="1300" dirty="0"/>
          </a:p>
          <a:p>
            <a:pPr marL="342900" indent="-342900">
              <a:spcAft>
                <a:spcPts val="600"/>
              </a:spcAft>
              <a:buSzPct val="100000"/>
              <a:buChar char="•"/>
            </a:pPr>
            <a:r>
              <a:rPr lang="en-US" sz="1300" dirty="0">
                <a:solidFill>
                  <a:schemeClr val="tx1"/>
                </a:solidFill>
              </a:rPr>
              <a:t>Every production row was md5-checksummed before and after a full run and came back identical</a:t>
            </a:r>
            <a:endParaRPr lang="en-US" sz="1300" dirty="0"/>
          </a:p>
          <a:p>
            <a:pPr marL="342900" indent="-342900">
              <a:spcAft>
                <a:spcPts val="600"/>
              </a:spcAft>
              <a:buSzPct val="100000"/>
              <a:buChar char="•"/>
            </a:pPr>
            <a:r>
              <a:rPr lang="en-US" sz="1300" dirty="0">
                <a:solidFill>
                  <a:schemeClr val="tx1"/>
                </a:solidFill>
              </a:rPr>
              <a:t>The suite needs no PostgreSQL service in CI, so the pipeline stays fast</a:t>
            </a:r>
            <a:endParaRPr lang="en-US" sz="13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Containers</a:t>
            </a:r>
            <a:endParaRPr lang="en-US" sz="3400" dirty="0"/>
          </a:p>
        </p:txBody>
      </p:sp>
      <p:sp>
        <p:nvSpPr>
          <p:cNvPr id="3" name="card-0.7-1.45"/>
          <p:cNvSpPr/>
          <p:nvPr/>
        </p:nvSpPr>
        <p:spPr>
          <a:xfrm>
            <a:off x="640080" y="1325880"/>
            <a:ext cx="5394960" cy="2103120"/>
          </a:xfrm>
          <a:prstGeom prst="roundRect">
            <a:avLst>
              <a:gd name="adj" fmla="val 3478"/>
            </a:avLst>
          </a:prstGeom>
          <a:solidFill>
            <a:srgbClr val="F1F5F9"/>
          </a:solidFill>
          <a:ln w="12700">
            <a:solidFill>
              <a:srgbClr val="E2E8F0"/>
            </a:solidFill>
            <a:prstDash val="solid"/>
          </a:ln>
        </p:spPr>
      </p:sp>
      <p:sp>
        <p:nvSpPr>
          <p:cNvPr id="4" name="Text 2"/>
          <p:cNvSpPr txBox="1"/>
          <p:nvPr/>
        </p:nvSpPr>
        <p:spPr>
          <a:xfrm>
            <a:off x="868680" y="1508760"/>
            <a:ext cx="4937760" cy="320040"/>
          </a:xfrm>
          <a:prstGeom prst="rect">
            <a:avLst/>
          </a:prstGeom>
          <a:noFill/>
          <a:ln/>
        </p:spPr>
        <p:txBody>
          <a:bodyPr wrap="square" lIns="0" tIns="0" rIns="0" bIns="0" rtlCol="0" anchor="ctr"/>
          <a:lstStyle/>
          <a:p>
            <a:pPr indent="0" marL="0">
              <a:buNone/>
            </a:pPr>
            <a:r>
              <a:rPr lang="en-US" sz="1800" b="1" dirty="0">
                <a:solidFill>
                  <a:schemeClr val="tx1"/>
                </a:solidFill>
              </a:rPr>
              <a:t>Backend</a:t>
            </a:r>
            <a:endParaRPr lang="en-US" sz="1800" dirty="0"/>
          </a:p>
        </p:txBody>
      </p:sp>
      <p:sp>
        <p:nvSpPr>
          <p:cNvPr id="5" name="Text 3"/>
          <p:cNvSpPr txBox="1"/>
          <p:nvPr/>
        </p:nvSpPr>
        <p:spPr>
          <a:xfrm>
            <a:off x="868680" y="1874520"/>
            <a:ext cx="4937760" cy="274320"/>
          </a:xfrm>
          <a:prstGeom prst="rect">
            <a:avLst/>
          </a:prstGeom>
          <a:noFill/>
          <a:ln/>
        </p:spPr>
        <p:txBody>
          <a:bodyPr wrap="square" lIns="0" tIns="0" rIns="0" bIns="0" rtlCol="0" anchor="ctr"/>
          <a:lstStyle/>
          <a:p>
            <a:pPr indent="0" marL="0">
              <a:buNone/>
            </a:pPr>
            <a:r>
              <a:rPr lang="en-US" sz="1200" b="1" dirty="0">
                <a:solidFill>
                  <a:srgbClr val="0EA5A4"/>
                </a:solidFill>
              </a:rPr>
              <a:t>python:3.12-slim</a:t>
            </a:r>
            <a:endParaRPr lang="en-US" sz="1200" dirty="0"/>
          </a:p>
        </p:txBody>
      </p:sp>
      <p:sp>
        <p:nvSpPr>
          <p:cNvPr id="6" name="Text 4"/>
          <p:cNvSpPr txBox="1"/>
          <p:nvPr/>
        </p:nvSpPr>
        <p:spPr>
          <a:xfrm>
            <a:off x="868680" y="2212848"/>
            <a:ext cx="4937760" cy="1051560"/>
          </a:xfrm>
          <a:prstGeom prst="rect">
            <a:avLst/>
          </a:prstGeom>
          <a:noFill/>
          <a:ln/>
        </p:spPr>
        <p:txBody>
          <a:bodyPr wrap="square" lIns="0" tIns="0" rIns="0" bIns="0" rtlCol="0" anchor="ctr"/>
          <a:lstStyle/>
          <a:p>
            <a:pPr indent="0" marL="0">
              <a:buNone/>
            </a:pPr>
            <a:r>
              <a:rPr lang="en-US" sz="1200" dirty="0">
                <a:solidFill>
                  <a:srgbClr val="64748B"/>
                </a:solidFill>
              </a:rPr>
              <a:t>Builder stage compiles wheels. pip, setuptools and wheel are deleted from the runtime image, which removed four fixable high-severity findings on its own.</a:t>
            </a:r>
            <a:endParaRPr lang="en-US" sz="1200" dirty="0"/>
          </a:p>
        </p:txBody>
      </p:sp>
      <p:sp>
        <p:nvSpPr>
          <p:cNvPr id="7" name="card-6.8500000000000005-1.45"/>
          <p:cNvSpPr/>
          <p:nvPr/>
        </p:nvSpPr>
        <p:spPr>
          <a:xfrm>
            <a:off x="6263640" y="1325880"/>
            <a:ext cx="5394960" cy="2103120"/>
          </a:xfrm>
          <a:prstGeom prst="roundRect">
            <a:avLst>
              <a:gd name="adj" fmla="val 3478"/>
            </a:avLst>
          </a:prstGeom>
          <a:solidFill>
            <a:srgbClr val="F1F5F9"/>
          </a:solidFill>
          <a:ln w="12700">
            <a:solidFill>
              <a:srgbClr val="E2E8F0"/>
            </a:solidFill>
            <a:prstDash val="solid"/>
          </a:ln>
        </p:spPr>
      </p:sp>
      <p:sp>
        <p:nvSpPr>
          <p:cNvPr id="8" name="Text 6"/>
          <p:cNvSpPr txBox="1"/>
          <p:nvPr/>
        </p:nvSpPr>
        <p:spPr>
          <a:xfrm>
            <a:off x="6492240" y="1508760"/>
            <a:ext cx="4937760" cy="320040"/>
          </a:xfrm>
          <a:prstGeom prst="rect">
            <a:avLst/>
          </a:prstGeom>
          <a:noFill/>
          <a:ln/>
        </p:spPr>
        <p:txBody>
          <a:bodyPr wrap="square" lIns="0" tIns="0" rIns="0" bIns="0" rtlCol="0" anchor="ctr"/>
          <a:lstStyle/>
          <a:p>
            <a:pPr indent="0" marL="0">
              <a:buNone/>
            </a:pPr>
            <a:r>
              <a:rPr lang="en-US" sz="1800" b="1" dirty="0">
                <a:solidFill>
                  <a:schemeClr val="tx1"/>
                </a:solidFill>
              </a:rPr>
              <a:t>Frontend</a:t>
            </a:r>
            <a:endParaRPr lang="en-US" sz="1800" dirty="0"/>
          </a:p>
        </p:txBody>
      </p:sp>
      <p:sp>
        <p:nvSpPr>
          <p:cNvPr id="9" name="Text 7"/>
          <p:cNvSpPr txBox="1"/>
          <p:nvPr/>
        </p:nvSpPr>
        <p:spPr>
          <a:xfrm>
            <a:off x="6492240" y="1874520"/>
            <a:ext cx="4937760" cy="274320"/>
          </a:xfrm>
          <a:prstGeom prst="rect">
            <a:avLst/>
          </a:prstGeom>
          <a:noFill/>
          <a:ln/>
        </p:spPr>
        <p:txBody>
          <a:bodyPr wrap="square" lIns="0" tIns="0" rIns="0" bIns="0" rtlCol="0" anchor="ctr"/>
          <a:lstStyle/>
          <a:p>
            <a:pPr indent="0" marL="0">
              <a:buNone/>
            </a:pPr>
            <a:r>
              <a:rPr lang="en-US" sz="1200" b="1" dirty="0">
                <a:solidFill>
                  <a:srgbClr val="0EA5A4"/>
                </a:solidFill>
              </a:rPr>
              <a:t>node build → nginx:alpine</a:t>
            </a:r>
            <a:endParaRPr lang="en-US" sz="1200" dirty="0"/>
          </a:p>
        </p:txBody>
      </p:sp>
      <p:sp>
        <p:nvSpPr>
          <p:cNvPr id="10" name="Text 8"/>
          <p:cNvSpPr txBox="1"/>
          <p:nvPr/>
        </p:nvSpPr>
        <p:spPr>
          <a:xfrm>
            <a:off x="6492240" y="2212848"/>
            <a:ext cx="4937760" cy="1051560"/>
          </a:xfrm>
          <a:prstGeom prst="rect">
            <a:avLst/>
          </a:prstGeom>
          <a:noFill/>
          <a:ln/>
        </p:spPr>
        <p:txBody>
          <a:bodyPr wrap="square" lIns="0" tIns="0" rIns="0" bIns="0" rtlCol="0" anchor="ctr"/>
          <a:lstStyle/>
          <a:p>
            <a:pPr indent="0" marL="0">
              <a:buNone/>
            </a:pPr>
            <a:r>
              <a:rPr lang="en-US" sz="1200" dirty="0">
                <a:solidFill>
                  <a:srgbClr val="64748B"/>
                </a:solidFill>
              </a:rPr>
              <a:t>Node compiles the bundle; only the built assets reach the final image. The compiler never ships.</a:t>
            </a:r>
            <a:endParaRPr lang="en-US" sz="1200" dirty="0"/>
          </a:p>
        </p:txBody>
      </p:sp>
      <p:sp>
        <p:nvSpPr>
          <p:cNvPr id="11" name="card-0.7-4"/>
          <p:cNvSpPr/>
          <p:nvPr/>
        </p:nvSpPr>
        <p:spPr>
          <a:xfrm>
            <a:off x="640080" y="3657600"/>
            <a:ext cx="11018520" cy="1783080"/>
          </a:xfrm>
          <a:prstGeom prst="roundRect">
            <a:avLst>
              <a:gd name="adj" fmla="val 4103"/>
            </a:avLst>
          </a:prstGeom>
          <a:solidFill>
            <a:srgbClr val="0F172A"/>
          </a:solidFill>
          <a:ln w="12700">
            <a:solidFill>
              <a:srgbClr val="E2E8F0"/>
            </a:solidFill>
            <a:prstDash val="solid"/>
          </a:ln>
        </p:spPr>
      </p:sp>
      <p:sp>
        <p:nvSpPr>
          <p:cNvPr id="12" name="Text 10"/>
          <p:cNvSpPr txBox="1"/>
          <p:nvPr/>
        </p:nvSpPr>
        <p:spPr>
          <a:xfrm>
            <a:off x="914400" y="3840480"/>
            <a:ext cx="10424160" cy="320040"/>
          </a:xfrm>
          <a:prstGeom prst="rect">
            <a:avLst/>
          </a:prstGeom>
          <a:noFill/>
          <a:ln/>
        </p:spPr>
        <p:txBody>
          <a:bodyPr wrap="square" lIns="0" tIns="0" rIns="0" bIns="0" rtlCol="0" anchor="ctr"/>
          <a:lstStyle/>
          <a:p>
            <a:pPr indent="0" marL="0">
              <a:buNone/>
            </a:pPr>
            <a:r>
              <a:rPr lang="en-US" sz="1500" b="1" dirty="0">
                <a:solidFill>
                  <a:srgbClr val="FFFFFF"/>
                </a:solidFill>
              </a:rPr>
              <a:t>Both images run as non-root — verified on the published artefact, not the local build</a:t>
            </a:r>
            <a:endParaRPr lang="en-US" sz="1500" dirty="0"/>
          </a:p>
        </p:txBody>
      </p:sp>
      <p:sp>
        <p:nvSpPr>
          <p:cNvPr id="13" name="Text 11"/>
          <p:cNvSpPr txBox="1"/>
          <p:nvPr/>
        </p:nvSpPr>
        <p:spPr>
          <a:xfrm>
            <a:off x="914400" y="4251960"/>
            <a:ext cx="10424160" cy="822960"/>
          </a:xfrm>
          <a:prstGeom prst="rect">
            <a:avLst/>
          </a:prstGeom>
          <a:noFill/>
          <a:ln/>
        </p:spPr>
        <p:txBody>
          <a:bodyPr wrap="square" lIns="0" tIns="0" rIns="0" bIns="0" rtlCol="0" anchor="ctr"/>
          <a:lstStyle/>
          <a:p>
            <a:pPr indent="0" marL="0">
              <a:buNone/>
            </a:pPr>
            <a:r>
              <a:rPr lang="en-US" sz="1200" dirty="0">
                <a:solidFill>
                  <a:srgbClr val="7DD3FC"/>
                </a:solidFill>
                <a:latin typeface="Courier New" pitchFamily="34" charset="0"/>
                <a:ea typeface="Courier New" pitchFamily="34" charset="-122"/>
                <a:cs typeface="Courier New" pitchFamily="34" charset="-120"/>
              </a:rPr>
              <a:t>$ docker run --rm --entrypoint id ghcr.io/amanyadav7015/servicedesk-backend:5041ecb</a:t>
            </a:r>
            <a:endParaRPr lang="en-US" sz="1200" dirty="0"/>
          </a:p>
          <a:p>
            <a:pPr indent="0" marL="0">
              <a:buNone/>
            </a:pPr>
            <a:r>
              <a:rPr lang="en-US" sz="1200" dirty="0">
                <a:solidFill>
                  <a:srgbClr val="7DD3FC"/>
                </a:solidFill>
                <a:latin typeface="Courier New" pitchFamily="34" charset="0"/>
                <a:ea typeface="Courier New" pitchFamily="34" charset="-122"/>
                <a:cs typeface="Courier New" pitchFamily="34" charset="-120"/>
              </a:rPr>
              <a:t>  uid=10001(servicedesk) gid=10001(servicedesk)</a:t>
            </a:r>
            <a:endParaRPr lang="en-US" sz="1200" dirty="0"/>
          </a:p>
        </p:txBody>
      </p:sp>
      <p:sp>
        <p:nvSpPr>
          <p:cNvPr id="14" name="Text 12"/>
          <p:cNvSpPr txBox="1"/>
          <p:nvPr/>
        </p:nvSpPr>
        <p:spPr>
          <a:xfrm>
            <a:off x="640080" y="5623560"/>
            <a:ext cx="10972800" cy="274320"/>
          </a:xfrm>
          <a:prstGeom prst="rect">
            <a:avLst/>
          </a:prstGeom>
          <a:noFill/>
          <a:ln/>
        </p:spPr>
        <p:txBody>
          <a:bodyPr wrap="square" lIns="0" tIns="0" rIns="0" bIns="0" rtlCol="0" anchor="ctr"/>
          <a:lstStyle/>
          <a:p>
            <a:pPr indent="0" marL="0">
              <a:buNone/>
            </a:pPr>
            <a:r>
              <a:rPr lang="en-US" sz="1200" i="1" dirty="0">
                <a:solidFill>
                  <a:srgbClr val="64748B"/>
                </a:solidFill>
              </a:rPr>
              <a:t>docker compose up --build brings all three services up and is smoke-tested in CI on every push</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p>
            <a:pPr algn="l" indent="0" marL="0">
              <a:buNone/>
            </a:pPr>
            <a:r>
              <a:rPr lang="en-US" sz="4000" b="1" dirty="0">
                <a:solidFill>
                  <a:schemeClr val="bg1"/>
                </a:solidFill>
              </a:rPr>
              <a:t>The gate is real</a:t>
            </a:r>
            <a:endParaRPr lang="en-US" sz="4000" dirty="0"/>
          </a:p>
        </p:txBody>
      </p:sp>
      <p:sp>
        <p:nvSpPr>
          <p:cNvPr id="3" name="Text 0"/>
          <p:cNvSpPr/>
          <p:nvPr>
            <p:ph idx="101" type="body" hasCustomPrompt="1"/>
          </p:nvPr>
        </p:nvSpPr>
        <p:spPr>
          <a:xfrm>
            <a:off x="868680" y="3749040"/>
            <a:ext cx="10515600" cy="914400"/>
          </a:xfrm>
          <a:prstGeom prst="rect">
            <a:avLst/>
          </a:prstGeom>
          <a:noFill/>
          <a:ln/>
        </p:spPr>
        <p:txBody>
          <a:bodyPr wrap="square" rtlCol="0"/>
          <a:lstStyle/>
          <a:p>
            <a:pPr indent="0" marL="0">
              <a:buNone/>
            </a:pPr>
            <a:r>
              <a:rPr lang="en-US" sz="1600" dirty="0">
                <a:solidFill>
                  <a:srgbClr val="CBD5E1"/>
                </a:solidFill>
              </a:rPr>
              <a:t>A failing test did not just colour a badge red. It prevented an artefact from existing.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Proving the pipeline blocks a bad commit</a:t>
            </a:r>
            <a:endParaRPr lang="en-US" sz="3400" dirty="0"/>
          </a:p>
        </p:txBody>
      </p:sp>
      <p:sp>
        <p:nvSpPr>
          <p:cNvPr id="3" name="Text 1"/>
          <p:cNvSpPr txBox="1"/>
          <p:nvPr/>
        </p:nvSpPr>
        <p:spPr>
          <a:xfrm>
            <a:off x="640080" y="1188720"/>
            <a:ext cx="10972800" cy="320040"/>
          </a:xfrm>
          <a:prstGeom prst="rect">
            <a:avLst/>
          </a:prstGeom>
          <a:noFill/>
          <a:ln/>
        </p:spPr>
        <p:txBody>
          <a:bodyPr wrap="square" lIns="0" tIns="0" rIns="0" bIns="0" rtlCol="0" anchor="ctr"/>
          <a:lstStyle/>
          <a:p>
            <a:pPr indent="0" marL="0">
              <a:buNone/>
            </a:pPr>
            <a:r>
              <a:rPr lang="en-US" sz="1500" dirty="0">
                <a:solidFill>
                  <a:srgbClr val="64748B"/>
                </a:solidFill>
              </a:rPr>
              <a:t>I pushed a deliberately failing test on commit 759989a</a:t>
            </a:r>
            <a:endParaRPr lang="en-US" sz="1500" dirty="0"/>
          </a:p>
        </p:txBody>
      </p:sp>
      <p:sp>
        <p:nvSpPr>
          <p:cNvPr id="4" name="card-0.7-1.85"/>
          <p:cNvSpPr/>
          <p:nvPr/>
        </p:nvSpPr>
        <p:spPr>
          <a:xfrm>
            <a:off x="640080" y="1691640"/>
            <a:ext cx="5486400" cy="548640"/>
          </a:xfrm>
          <a:prstGeom prst="roundRect">
            <a:avLst>
              <a:gd name="adj" fmla="val 13333"/>
            </a:avLst>
          </a:prstGeom>
          <a:solidFill>
            <a:srgbClr val="F1F5F9"/>
          </a:solidFill>
          <a:ln w="12700">
            <a:solidFill>
              <a:srgbClr val="E2E8F0"/>
            </a:solidFill>
            <a:prstDash val="solid"/>
          </a:ln>
        </p:spPr>
      </p:sp>
      <p:sp>
        <p:nvSpPr>
          <p:cNvPr id="5" name="Text 3"/>
          <p:cNvSpPr txBox="1"/>
          <p:nvPr/>
        </p:nvSpPr>
        <p:spPr>
          <a:xfrm>
            <a:off x="868680" y="1810512"/>
            <a:ext cx="3108960" cy="320040"/>
          </a:xfrm>
          <a:prstGeom prst="rect">
            <a:avLst/>
          </a:prstGeom>
          <a:noFill/>
          <a:ln/>
        </p:spPr>
        <p:txBody>
          <a:bodyPr wrap="square" lIns="0" tIns="0" rIns="0" bIns="0" rtlCol="0" anchor="ctr"/>
          <a:lstStyle/>
          <a:p>
            <a:pPr indent="0" marL="0">
              <a:buNone/>
            </a:pPr>
            <a:r>
              <a:rPr lang="en-US" sz="1300" dirty="0">
                <a:solidFill>
                  <a:schemeClr val="tx1"/>
                </a:solidFill>
              </a:rPr>
              <a:t>Frontend build</a:t>
            </a:r>
            <a:endParaRPr lang="en-US" sz="1300" dirty="0"/>
          </a:p>
        </p:txBody>
      </p:sp>
      <p:sp>
        <p:nvSpPr>
          <p:cNvPr id="6" name="Text 4"/>
          <p:cNvSpPr txBox="1"/>
          <p:nvPr/>
        </p:nvSpPr>
        <p:spPr>
          <a:xfrm>
            <a:off x="4114800" y="1810512"/>
            <a:ext cx="1828800" cy="320040"/>
          </a:xfrm>
          <a:prstGeom prst="rect">
            <a:avLst/>
          </a:prstGeom>
          <a:noFill/>
          <a:ln/>
        </p:spPr>
        <p:txBody>
          <a:bodyPr wrap="square" lIns="0" tIns="0" rIns="0" bIns="0" rtlCol="0" anchor="ctr"/>
          <a:lstStyle/>
          <a:p>
            <a:pPr algn="r" indent="0" marL="0">
              <a:buNone/>
            </a:pPr>
            <a:r>
              <a:rPr lang="en-US" sz="1300" b="1" dirty="0">
                <a:solidFill>
                  <a:srgbClr val="22C55E"/>
                </a:solidFill>
              </a:rPr>
              <a:t>success</a:t>
            </a:r>
            <a:endParaRPr lang="en-US" sz="1300" dirty="0"/>
          </a:p>
        </p:txBody>
      </p:sp>
      <p:sp>
        <p:nvSpPr>
          <p:cNvPr id="7" name="card-0.7-2.5700000000000003"/>
          <p:cNvSpPr/>
          <p:nvPr/>
        </p:nvSpPr>
        <p:spPr>
          <a:xfrm>
            <a:off x="640080" y="2350008"/>
            <a:ext cx="5486400" cy="548640"/>
          </a:xfrm>
          <a:prstGeom prst="roundRect">
            <a:avLst>
              <a:gd name="adj" fmla="val 13333"/>
            </a:avLst>
          </a:prstGeom>
          <a:solidFill>
            <a:srgbClr val="FEE2E2"/>
          </a:solidFill>
          <a:ln w="12700">
            <a:solidFill>
              <a:srgbClr val="E2E8F0"/>
            </a:solidFill>
            <a:prstDash val="solid"/>
          </a:ln>
        </p:spPr>
      </p:sp>
      <p:sp>
        <p:nvSpPr>
          <p:cNvPr id="8" name="Text 6"/>
          <p:cNvSpPr txBox="1"/>
          <p:nvPr/>
        </p:nvSpPr>
        <p:spPr>
          <a:xfrm>
            <a:off x="868680" y="2468880"/>
            <a:ext cx="3108960" cy="320040"/>
          </a:xfrm>
          <a:prstGeom prst="rect">
            <a:avLst/>
          </a:prstGeom>
          <a:noFill/>
          <a:ln/>
        </p:spPr>
        <p:txBody>
          <a:bodyPr wrap="square" lIns="0" tIns="0" rIns="0" bIns="0" rtlCol="0" anchor="ctr"/>
          <a:lstStyle/>
          <a:p>
            <a:pPr indent="0" marL="0">
              <a:buNone/>
            </a:pPr>
            <a:r>
              <a:rPr lang="en-US" sz="1300" b="1" dirty="0">
                <a:solidFill>
                  <a:schemeClr val="tx1"/>
                </a:solidFill>
              </a:rPr>
              <a:t>Backend tests</a:t>
            </a:r>
            <a:endParaRPr lang="en-US" sz="1300" dirty="0"/>
          </a:p>
        </p:txBody>
      </p:sp>
      <p:sp>
        <p:nvSpPr>
          <p:cNvPr id="9" name="Text 7"/>
          <p:cNvSpPr txBox="1"/>
          <p:nvPr/>
        </p:nvSpPr>
        <p:spPr>
          <a:xfrm>
            <a:off x="4114800" y="2468880"/>
            <a:ext cx="1828800" cy="320040"/>
          </a:xfrm>
          <a:prstGeom prst="rect">
            <a:avLst/>
          </a:prstGeom>
          <a:noFill/>
          <a:ln/>
        </p:spPr>
        <p:txBody>
          <a:bodyPr wrap="square" lIns="0" tIns="0" rIns="0" bIns="0" rtlCol="0" anchor="ctr"/>
          <a:lstStyle/>
          <a:p>
            <a:pPr algn="r" indent="0" marL="0">
              <a:buNone/>
            </a:pPr>
            <a:r>
              <a:rPr lang="en-US" sz="1300" b="1" dirty="0">
                <a:solidFill>
                  <a:srgbClr val="EF4444"/>
                </a:solidFill>
              </a:rPr>
              <a:t>FAILURE</a:t>
            </a:r>
            <a:endParaRPr lang="en-US" sz="1300" dirty="0"/>
          </a:p>
        </p:txBody>
      </p:sp>
      <p:sp>
        <p:nvSpPr>
          <p:cNvPr id="10" name="card-0.7-3.29"/>
          <p:cNvSpPr/>
          <p:nvPr/>
        </p:nvSpPr>
        <p:spPr>
          <a:xfrm>
            <a:off x="640080" y="3008376"/>
            <a:ext cx="5486400" cy="548640"/>
          </a:xfrm>
          <a:prstGeom prst="roundRect">
            <a:avLst>
              <a:gd name="adj" fmla="val 13333"/>
            </a:avLst>
          </a:prstGeom>
          <a:solidFill>
            <a:srgbClr val="F1F5F9"/>
          </a:solidFill>
          <a:ln w="12700">
            <a:solidFill>
              <a:srgbClr val="E2E8F0"/>
            </a:solidFill>
            <a:prstDash val="solid"/>
          </a:ln>
        </p:spPr>
      </p:sp>
      <p:sp>
        <p:nvSpPr>
          <p:cNvPr id="11" name="Text 9"/>
          <p:cNvSpPr txBox="1"/>
          <p:nvPr/>
        </p:nvSpPr>
        <p:spPr>
          <a:xfrm>
            <a:off x="868680" y="3127248"/>
            <a:ext cx="3108960" cy="320040"/>
          </a:xfrm>
          <a:prstGeom prst="rect">
            <a:avLst/>
          </a:prstGeom>
          <a:noFill/>
          <a:ln/>
        </p:spPr>
        <p:txBody>
          <a:bodyPr wrap="square" lIns="0" tIns="0" rIns="0" bIns="0" rtlCol="0" anchor="ctr"/>
          <a:lstStyle/>
          <a:p>
            <a:pPr indent="0" marL="0">
              <a:buNone/>
            </a:pPr>
            <a:r>
              <a:rPr lang="en-US" sz="1300" dirty="0">
                <a:solidFill>
                  <a:schemeClr val="tx1"/>
                </a:solidFill>
              </a:rPr>
              <a:t>Build, scan, publish</a:t>
            </a:r>
            <a:endParaRPr lang="en-US" sz="1300" dirty="0"/>
          </a:p>
        </p:txBody>
      </p:sp>
      <p:sp>
        <p:nvSpPr>
          <p:cNvPr id="12" name="Text 10"/>
          <p:cNvSpPr txBox="1"/>
          <p:nvPr/>
        </p:nvSpPr>
        <p:spPr>
          <a:xfrm>
            <a:off x="4114800" y="3127248"/>
            <a:ext cx="1828800" cy="320040"/>
          </a:xfrm>
          <a:prstGeom prst="rect">
            <a:avLst/>
          </a:prstGeom>
          <a:noFill/>
          <a:ln/>
        </p:spPr>
        <p:txBody>
          <a:bodyPr wrap="square" lIns="0" tIns="0" rIns="0" bIns="0" rtlCol="0" anchor="ctr"/>
          <a:lstStyle/>
          <a:p>
            <a:pPr algn="r" indent="0" marL="0">
              <a:buNone/>
            </a:pPr>
            <a:r>
              <a:rPr lang="en-US" sz="1300" b="1" dirty="0">
                <a:solidFill>
                  <a:srgbClr val="64748B"/>
                </a:solidFill>
              </a:rPr>
              <a:t>skipped</a:t>
            </a:r>
            <a:endParaRPr lang="en-US" sz="1300" dirty="0"/>
          </a:p>
        </p:txBody>
      </p:sp>
      <p:sp>
        <p:nvSpPr>
          <p:cNvPr id="13" name="card-0.7-4.01"/>
          <p:cNvSpPr/>
          <p:nvPr/>
        </p:nvSpPr>
        <p:spPr>
          <a:xfrm>
            <a:off x="640080" y="3666744"/>
            <a:ext cx="5486400" cy="548640"/>
          </a:xfrm>
          <a:prstGeom prst="roundRect">
            <a:avLst>
              <a:gd name="adj" fmla="val 13333"/>
            </a:avLst>
          </a:prstGeom>
          <a:solidFill>
            <a:srgbClr val="F1F5F9"/>
          </a:solidFill>
          <a:ln w="12700">
            <a:solidFill>
              <a:srgbClr val="E2E8F0"/>
            </a:solidFill>
            <a:prstDash val="solid"/>
          </a:ln>
        </p:spPr>
      </p:sp>
      <p:sp>
        <p:nvSpPr>
          <p:cNvPr id="14" name="Text 12"/>
          <p:cNvSpPr txBox="1"/>
          <p:nvPr/>
        </p:nvSpPr>
        <p:spPr>
          <a:xfrm>
            <a:off x="868680" y="3785616"/>
            <a:ext cx="3108960" cy="320040"/>
          </a:xfrm>
          <a:prstGeom prst="rect">
            <a:avLst/>
          </a:prstGeom>
          <a:noFill/>
          <a:ln/>
        </p:spPr>
        <p:txBody>
          <a:bodyPr wrap="square" lIns="0" tIns="0" rIns="0" bIns="0" rtlCol="0" anchor="ctr"/>
          <a:lstStyle/>
          <a:p>
            <a:pPr indent="0" marL="0">
              <a:buNone/>
            </a:pPr>
            <a:r>
              <a:rPr lang="en-US" sz="1300" dirty="0">
                <a:solidFill>
                  <a:schemeClr val="tx1"/>
                </a:solidFill>
              </a:rPr>
              <a:t>Compose stack</a:t>
            </a:r>
            <a:endParaRPr lang="en-US" sz="1300" dirty="0"/>
          </a:p>
        </p:txBody>
      </p:sp>
      <p:sp>
        <p:nvSpPr>
          <p:cNvPr id="15" name="Text 13"/>
          <p:cNvSpPr txBox="1"/>
          <p:nvPr/>
        </p:nvSpPr>
        <p:spPr>
          <a:xfrm>
            <a:off x="4114800" y="3785616"/>
            <a:ext cx="1828800" cy="320040"/>
          </a:xfrm>
          <a:prstGeom prst="rect">
            <a:avLst/>
          </a:prstGeom>
          <a:noFill/>
          <a:ln/>
        </p:spPr>
        <p:txBody>
          <a:bodyPr wrap="square" lIns="0" tIns="0" rIns="0" bIns="0" rtlCol="0" anchor="ctr"/>
          <a:lstStyle/>
          <a:p>
            <a:pPr algn="r" indent="0" marL="0">
              <a:buNone/>
            </a:pPr>
            <a:r>
              <a:rPr lang="en-US" sz="1300" b="1" dirty="0">
                <a:solidFill>
                  <a:srgbClr val="64748B"/>
                </a:solidFill>
              </a:rPr>
              <a:t>skipped</a:t>
            </a:r>
            <a:endParaRPr lang="en-US" sz="1300" dirty="0"/>
          </a:p>
        </p:txBody>
      </p:sp>
      <p:sp>
        <p:nvSpPr>
          <p:cNvPr id="16" name="Text 14"/>
          <p:cNvSpPr txBox="1"/>
          <p:nvPr/>
        </p:nvSpPr>
        <p:spPr>
          <a:xfrm>
            <a:off x="640080" y="4434840"/>
            <a:ext cx="5486400" cy="457200"/>
          </a:xfrm>
          <a:prstGeom prst="rect">
            <a:avLst/>
          </a:prstGeom>
          <a:noFill/>
          <a:ln/>
        </p:spPr>
        <p:txBody>
          <a:bodyPr wrap="square" lIns="0" tIns="0" rIns="0" bIns="0" rtlCol="0" anchor="ctr"/>
          <a:lstStyle/>
          <a:p>
            <a:pPr indent="0" marL="0">
              <a:buNone/>
            </a:pPr>
            <a:r>
              <a:rPr lang="en-US" sz="1100" i="1" dirty="0">
                <a:solidFill>
                  <a:srgbClr val="64748B"/>
                </a:solidFill>
              </a:rPr>
              <a:t>Skipped, not failed — the dependency graph stopped them before they took a runner</a:t>
            </a:r>
            <a:endParaRPr lang="en-US" sz="1100" dirty="0"/>
          </a:p>
        </p:txBody>
      </p:sp>
      <p:sp>
        <p:nvSpPr>
          <p:cNvPr id="17" name="card-7.1-1.85"/>
          <p:cNvSpPr/>
          <p:nvPr/>
        </p:nvSpPr>
        <p:spPr>
          <a:xfrm>
            <a:off x="6492240" y="1691640"/>
            <a:ext cx="5120640" cy="3200400"/>
          </a:xfrm>
          <a:prstGeom prst="roundRect">
            <a:avLst>
              <a:gd name="adj" fmla="val 2286"/>
            </a:avLst>
          </a:prstGeom>
          <a:solidFill>
            <a:srgbClr val="0F172A"/>
          </a:solidFill>
          <a:ln w="12700">
            <a:solidFill>
              <a:srgbClr val="E2E8F0"/>
            </a:solidFill>
            <a:prstDash val="solid"/>
          </a:ln>
        </p:spPr>
      </p:sp>
      <p:sp>
        <p:nvSpPr>
          <p:cNvPr id="18" name="Text 16"/>
          <p:cNvSpPr txBox="1"/>
          <p:nvPr/>
        </p:nvSpPr>
        <p:spPr>
          <a:xfrm>
            <a:off x="6766560" y="1874520"/>
            <a:ext cx="4572000" cy="320040"/>
          </a:xfrm>
          <a:prstGeom prst="rect">
            <a:avLst/>
          </a:prstGeom>
          <a:noFill/>
          <a:ln/>
        </p:spPr>
        <p:txBody>
          <a:bodyPr wrap="square" lIns="0" tIns="0" rIns="0" bIns="0" rtlCol="0" anchor="ctr"/>
          <a:lstStyle/>
          <a:p>
            <a:pPr indent="0" marL="0">
              <a:buNone/>
            </a:pPr>
            <a:r>
              <a:rPr lang="en-US" sz="1600" b="1" dirty="0">
                <a:solidFill>
                  <a:srgbClr val="FFFFFF"/>
                </a:solidFill>
              </a:rPr>
              <a:t>And the registry agrees</a:t>
            </a:r>
            <a:endParaRPr lang="en-US" sz="1600" dirty="0"/>
          </a:p>
        </p:txBody>
      </p:sp>
      <p:sp>
        <p:nvSpPr>
          <p:cNvPr id="19" name="Text 17"/>
          <p:cNvSpPr txBox="1"/>
          <p:nvPr/>
        </p:nvSpPr>
        <p:spPr>
          <a:xfrm>
            <a:off x="6766560" y="2331720"/>
            <a:ext cx="4572000" cy="1463040"/>
          </a:xfrm>
          <a:prstGeom prst="rect">
            <a:avLst/>
          </a:prstGeom>
          <a:noFill/>
          <a:ln/>
        </p:spPr>
        <p:txBody>
          <a:bodyPr wrap="square" lIns="0" tIns="0" rIns="0" bIns="0" rtlCol="0" anchor="ctr"/>
          <a:lstStyle/>
          <a:p>
            <a:pPr indent="0" marL="0">
              <a:spcAft>
                <a:spcPts val="800"/>
              </a:spcAft>
              <a:buNone/>
            </a:pPr>
            <a:r>
              <a:rPr lang="en-US" sz="1300" dirty="0">
                <a:solidFill>
                  <a:srgbClr val="FCA5A5"/>
                </a:solidFill>
                <a:latin typeface="Courier New" pitchFamily="34" charset="0"/>
                <a:ea typeface="Courier New" pitchFamily="34" charset="-122"/>
                <a:cs typeface="Courier New" pitchFamily="34" charset="-120"/>
              </a:rPr>
              <a:t>red commit  759989a  →  404</a:t>
            </a:r>
            <a:endParaRPr lang="en-US" sz="1300" dirty="0"/>
          </a:p>
          <a:p>
            <a:pPr indent="0" marL="0">
              <a:spcAft>
                <a:spcPts val="800"/>
              </a:spcAft>
              <a:buNone/>
            </a:pPr>
            <a:r>
              <a:rPr lang="en-US" sz="1300" dirty="0">
                <a:solidFill>
                  <a:srgbClr val="86EFAC"/>
                </a:solidFill>
                <a:latin typeface="Courier New" pitchFamily="34" charset="0"/>
                <a:ea typeface="Courier New" pitchFamily="34" charset="-122"/>
                <a:cs typeface="Courier New" pitchFamily="34" charset="-120"/>
              </a:rPr>
              <a:t>green commit d142944  →  200</a:t>
            </a:r>
            <a:endParaRPr lang="en-US" sz="1300" dirty="0"/>
          </a:p>
          <a:p>
            <a:pPr indent="0" marL="0">
              <a:spcAft>
                <a:spcPts val="800"/>
              </a:spcAft>
              <a:buNone/>
            </a:pPr>
            <a:r>
              <a:rPr lang="en-US" sz="1300" dirty="0">
                <a:solidFill>
                  <a:srgbClr val="7DD3FC"/>
                </a:solidFill>
                <a:latin typeface="Courier New" pitchFamily="34" charset="0"/>
                <a:ea typeface="Courier New" pitchFamily="34" charset="-122"/>
                <a:cs typeface="Courier New" pitchFamily="34" charset="-120"/>
              </a:rPr>
              <a:t>14 tags, every one a commit SHA</a:t>
            </a:r>
            <a:endParaRPr lang="en-US" sz="1300" dirty="0"/>
          </a:p>
          <a:p>
            <a:pPr indent="0" marL="0">
              <a:spcAft>
                <a:spcPts val="800"/>
              </a:spcAft>
              <a:buNone/>
            </a:pPr>
            <a:r>
              <a:rPr lang="en-US" sz="1300" dirty="0">
                <a:solidFill>
                  <a:srgbClr val="7DD3FC"/>
                </a:solidFill>
                <a:latin typeface="Courier New" pitchFamily="34" charset="0"/>
                <a:ea typeface="Courier New" pitchFamily="34" charset="-122"/>
                <a:cs typeface="Courier New" pitchFamily="34" charset="-120"/>
              </a:rPr>
              <a:t>no "latest" tag anywhere</a:t>
            </a:r>
            <a:endParaRPr lang="en-US" sz="1300" dirty="0"/>
          </a:p>
        </p:txBody>
      </p:sp>
      <p:sp>
        <p:nvSpPr>
          <p:cNvPr id="20" name="Text 18"/>
          <p:cNvSpPr txBox="1"/>
          <p:nvPr/>
        </p:nvSpPr>
        <p:spPr>
          <a:xfrm>
            <a:off x="6766560" y="4023360"/>
            <a:ext cx="4572000" cy="640080"/>
          </a:xfrm>
          <a:prstGeom prst="rect">
            <a:avLst/>
          </a:prstGeom>
          <a:noFill/>
          <a:ln/>
        </p:spPr>
        <p:txBody>
          <a:bodyPr wrap="square" lIns="0" tIns="0" rIns="0" bIns="0" rtlCol="0" anchor="ctr"/>
          <a:lstStyle/>
          <a:p>
            <a:pPr indent="0" marL="0">
              <a:buNone/>
            </a:pPr>
            <a:r>
              <a:rPr lang="en-US" sz="1200" dirty="0">
                <a:solidFill>
                  <a:srgbClr val="CBD5E1"/>
                </a:solidFill>
              </a:rPr>
              <a:t>Any running container traces back to the exact commit that produced it.</a:t>
            </a:r>
            <a:endParaRPr lang="en-US" sz="1200" dirty="0"/>
          </a:p>
        </p:txBody>
      </p:sp>
      <p:sp>
        <p:nvSpPr>
          <p:cNvPr id="21" name="Text 19"/>
          <p:cNvSpPr txBox="1"/>
          <p:nvPr/>
        </p:nvSpPr>
        <p:spPr>
          <a:xfrm>
            <a:off x="640080" y="5120640"/>
            <a:ext cx="10972800" cy="274320"/>
          </a:xfrm>
          <a:prstGeom prst="rect">
            <a:avLst/>
          </a:prstGeom>
          <a:noFill/>
          <a:ln/>
        </p:spPr>
        <p:txBody>
          <a:bodyPr wrap="square" lIns="0" tIns="0" rIns="0" bIns="0" rtlCol="0" anchor="ctr"/>
          <a:lstStyle/>
          <a:p>
            <a:pPr indent="0" marL="0">
              <a:buNone/>
            </a:pPr>
            <a:r>
              <a:rPr lang="en-US" sz="1200" i="1" dirty="0">
                <a:solidFill>
                  <a:srgbClr val="64748B"/>
                </a:solidFill>
              </a:rPr>
              <a:t>Checked by querying the registry directly, not by reading the pipeline log.</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Security scanning, fixed at source</a:t>
            </a:r>
            <a:endParaRPr lang="en-US" sz="3400" dirty="0"/>
          </a:p>
        </p:txBody>
      </p:sp>
      <p:sp>
        <p:nvSpPr>
          <p:cNvPr id="3" name="card-0.7-1.45"/>
          <p:cNvSpPr/>
          <p:nvPr/>
        </p:nvSpPr>
        <p:spPr>
          <a:xfrm>
            <a:off x="640080" y="1325880"/>
            <a:ext cx="5394960" cy="1828800"/>
          </a:xfrm>
          <a:prstGeom prst="roundRect">
            <a:avLst>
              <a:gd name="adj" fmla="val 4000"/>
            </a:avLst>
          </a:prstGeom>
          <a:solidFill>
            <a:srgbClr val="FEE2E2"/>
          </a:solidFill>
          <a:ln w="12700">
            <a:solidFill>
              <a:srgbClr val="E2E8F0"/>
            </a:solidFill>
            <a:prstDash val="solid"/>
          </a:ln>
        </p:spPr>
      </p:sp>
      <p:sp>
        <p:nvSpPr>
          <p:cNvPr id="4" name="Text 2"/>
          <p:cNvSpPr txBox="1"/>
          <p:nvPr/>
        </p:nvSpPr>
        <p:spPr>
          <a:xfrm>
            <a:off x="914400" y="1481328"/>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nginx:1.27-alpine</a:t>
            </a:r>
            <a:endParaRPr lang="en-US" sz="1500" dirty="0"/>
          </a:p>
        </p:txBody>
      </p:sp>
      <p:sp>
        <p:nvSpPr>
          <p:cNvPr id="5" name="Text 3"/>
          <p:cNvSpPr txBox="1"/>
          <p:nvPr/>
        </p:nvSpPr>
        <p:spPr>
          <a:xfrm>
            <a:off x="914400" y="1810512"/>
            <a:ext cx="1828800" cy="640080"/>
          </a:xfrm>
          <a:prstGeom prst="rect">
            <a:avLst/>
          </a:prstGeom>
          <a:noFill/>
          <a:ln/>
        </p:spPr>
        <p:txBody>
          <a:bodyPr wrap="square" lIns="0" tIns="0" rIns="0" bIns="0" rtlCol="0" anchor="ctr"/>
          <a:lstStyle/>
          <a:p>
            <a:pPr indent="0" marL="0">
              <a:buNone/>
            </a:pPr>
            <a:r>
              <a:rPr lang="en-US" sz="4000" b="1" dirty="0">
                <a:solidFill>
                  <a:srgbClr val="EF4444"/>
                </a:solidFill>
              </a:rPr>
              <a:t>43</a:t>
            </a:r>
            <a:endParaRPr lang="en-US" sz="4000" dirty="0"/>
          </a:p>
        </p:txBody>
      </p:sp>
      <p:sp>
        <p:nvSpPr>
          <p:cNvPr id="6" name="Text 4"/>
          <p:cNvSpPr txBox="1"/>
          <p:nvPr/>
        </p:nvSpPr>
        <p:spPr>
          <a:xfrm>
            <a:off x="2468880" y="1920240"/>
            <a:ext cx="3291840" cy="822960"/>
          </a:xfrm>
          <a:prstGeom prst="rect">
            <a:avLst/>
          </a:prstGeom>
          <a:noFill/>
          <a:ln/>
        </p:spPr>
        <p:txBody>
          <a:bodyPr wrap="square" lIns="0" tIns="0" rIns="0" bIns="0" rtlCol="0" anchor="ctr"/>
          <a:lstStyle/>
          <a:p>
            <a:pPr indent="0" marL="0">
              <a:buNone/>
            </a:pPr>
            <a:r>
              <a:rPr lang="en-US" sz="1200" dirty="0">
                <a:solidFill>
                  <a:srgbClr val="64748B"/>
                </a:solidFill>
              </a:rPr>
              <a:t>findings</a:t>
            </a:r>
            <a:endParaRPr lang="en-US" sz="1200" dirty="0"/>
          </a:p>
          <a:p>
            <a:pPr indent="0" marL="0">
              <a:buNone/>
            </a:pPr>
            <a:r>
              <a:rPr lang="en-US" sz="1200" dirty="0">
                <a:solidFill>
                  <a:srgbClr val="64748B"/>
                </a:solidFill>
              </a:rPr>
              <a:t>41 high · 2 critical · all fixable</a:t>
            </a:r>
            <a:endParaRPr lang="en-US" sz="1200" dirty="0"/>
          </a:p>
        </p:txBody>
      </p:sp>
      <p:sp>
        <p:nvSpPr>
          <p:cNvPr id="7" name="card-6.85-1.45"/>
          <p:cNvSpPr/>
          <p:nvPr/>
        </p:nvSpPr>
        <p:spPr>
          <a:xfrm>
            <a:off x="6263640" y="1325880"/>
            <a:ext cx="5349240" cy="1828800"/>
          </a:xfrm>
          <a:prstGeom prst="roundRect">
            <a:avLst>
              <a:gd name="adj" fmla="val 4000"/>
            </a:avLst>
          </a:prstGeom>
          <a:solidFill>
            <a:srgbClr val="DCFCE7"/>
          </a:solidFill>
          <a:ln w="12700">
            <a:solidFill>
              <a:srgbClr val="E2E8F0"/>
            </a:solidFill>
            <a:prstDash val="solid"/>
          </a:ln>
        </p:spPr>
      </p:sp>
      <p:sp>
        <p:nvSpPr>
          <p:cNvPr id="8" name="Text 6"/>
          <p:cNvSpPr txBox="1"/>
          <p:nvPr/>
        </p:nvSpPr>
        <p:spPr>
          <a:xfrm>
            <a:off x="6537960" y="1481328"/>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nginx:1.31-alpine + apk upgrade</a:t>
            </a:r>
            <a:endParaRPr lang="en-US" sz="1500" dirty="0"/>
          </a:p>
        </p:txBody>
      </p:sp>
      <p:sp>
        <p:nvSpPr>
          <p:cNvPr id="9" name="Text 7"/>
          <p:cNvSpPr txBox="1"/>
          <p:nvPr/>
        </p:nvSpPr>
        <p:spPr>
          <a:xfrm>
            <a:off x="6537960" y="1810512"/>
            <a:ext cx="1828800" cy="640080"/>
          </a:xfrm>
          <a:prstGeom prst="rect">
            <a:avLst/>
          </a:prstGeom>
          <a:noFill/>
          <a:ln/>
        </p:spPr>
        <p:txBody>
          <a:bodyPr wrap="square" lIns="0" tIns="0" rIns="0" bIns="0" rtlCol="0" anchor="ctr"/>
          <a:lstStyle/>
          <a:p>
            <a:pPr indent="0" marL="0">
              <a:buNone/>
            </a:pPr>
            <a:r>
              <a:rPr lang="en-US" sz="4000" b="1" dirty="0">
                <a:solidFill>
                  <a:srgbClr val="22C55E"/>
                </a:solidFill>
              </a:rPr>
              <a:t>0</a:t>
            </a:r>
            <a:endParaRPr lang="en-US" sz="4000" dirty="0"/>
          </a:p>
        </p:txBody>
      </p:sp>
      <p:sp>
        <p:nvSpPr>
          <p:cNvPr id="10" name="Text 8"/>
          <p:cNvSpPr txBox="1"/>
          <p:nvPr/>
        </p:nvSpPr>
        <p:spPr>
          <a:xfrm>
            <a:off x="7863840" y="1920240"/>
            <a:ext cx="3566160" cy="822960"/>
          </a:xfrm>
          <a:prstGeom prst="rect">
            <a:avLst/>
          </a:prstGeom>
          <a:noFill/>
          <a:ln/>
        </p:spPr>
        <p:txBody>
          <a:bodyPr wrap="square" lIns="0" tIns="0" rIns="0" bIns="0" rtlCol="0" anchor="ctr"/>
          <a:lstStyle/>
          <a:p>
            <a:pPr indent="0" marL="0">
              <a:buNone/>
            </a:pPr>
            <a:r>
              <a:rPr lang="en-US" sz="1200" dirty="0">
                <a:solidFill>
                  <a:srgbClr val="64748B"/>
                </a:solidFill>
              </a:rPr>
              <a:t>findings</a:t>
            </a:r>
            <a:endParaRPr lang="en-US" sz="1200" dirty="0"/>
          </a:p>
          <a:p>
            <a:pPr indent="0" marL="0">
              <a:buNone/>
            </a:pPr>
            <a:r>
              <a:rPr lang="en-US" sz="1200" dirty="0">
                <a:solidFill>
                  <a:srgbClr val="64748B"/>
                </a:solidFill>
              </a:rPr>
              <a:t>one minor version, zero suppressions</a:t>
            </a:r>
            <a:endParaRPr lang="en-US" sz="1200" dirty="0"/>
          </a:p>
        </p:txBody>
      </p:sp>
      <p:sp>
        <p:nvSpPr>
          <p:cNvPr id="11" name="card-0.7-3.7"/>
          <p:cNvSpPr/>
          <p:nvPr/>
        </p:nvSpPr>
        <p:spPr>
          <a:xfrm>
            <a:off x="640080" y="3383280"/>
            <a:ext cx="10972800" cy="2103120"/>
          </a:xfrm>
          <a:prstGeom prst="roundRect">
            <a:avLst>
              <a:gd name="adj" fmla="val 3478"/>
            </a:avLst>
          </a:prstGeom>
          <a:solidFill>
            <a:srgbClr val="F1F5F9"/>
          </a:solidFill>
          <a:ln w="12700">
            <a:solidFill>
              <a:srgbClr val="E2E8F0"/>
            </a:solidFill>
            <a:prstDash val="solid"/>
          </a:ln>
        </p:spPr>
      </p:sp>
      <p:sp>
        <p:nvSpPr>
          <p:cNvPr id="12" name="Text 10"/>
          <p:cNvSpPr txBox="1"/>
          <p:nvPr/>
        </p:nvSpPr>
        <p:spPr>
          <a:xfrm>
            <a:off x="914400" y="3566160"/>
            <a:ext cx="10424160" cy="320040"/>
          </a:xfrm>
          <a:prstGeom prst="rect">
            <a:avLst/>
          </a:prstGeom>
          <a:noFill/>
          <a:ln/>
        </p:spPr>
        <p:txBody>
          <a:bodyPr wrap="square" lIns="0" tIns="0" rIns="0" bIns="0" rtlCol="0" anchor="ctr"/>
          <a:lstStyle/>
          <a:p>
            <a:pPr indent="0" marL="0">
              <a:buNone/>
            </a:pPr>
            <a:r>
              <a:rPr lang="en-US" sz="1600" b="1" dirty="0">
                <a:solidFill>
                  <a:schemeClr val="tx1"/>
                </a:solidFill>
              </a:rPr>
              <a:t>.trivyignore.yaml is empty — and that was a choice</a:t>
            </a:r>
            <a:endParaRPr lang="en-US" sz="1600" dirty="0"/>
          </a:p>
        </p:txBody>
      </p:sp>
      <p:sp>
        <p:nvSpPr>
          <p:cNvPr id="13" name="Text 11"/>
          <p:cNvSpPr txBox="1"/>
          <p:nvPr/>
        </p:nvSpPr>
        <p:spPr>
          <a:xfrm>
            <a:off x="914400" y="3977640"/>
            <a:ext cx="10424160" cy="132588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chemeClr val="tx1"/>
                </a:solidFill>
              </a:rPr>
              <a:t>Two high-severity issues in the web framework could not be patched: another dependency pinned it below the fixed release.</a:t>
            </a:r>
            <a:endParaRPr lang="en-US" sz="1300" dirty="0"/>
          </a:p>
          <a:p>
            <a:pPr marL="342900" indent="-342900">
              <a:spcAft>
                <a:spcPts val="700"/>
              </a:spcAft>
              <a:buSzPct val="100000"/>
              <a:buChar char="•"/>
            </a:pPr>
            <a:r>
              <a:rPr lang="en-US" sz="1300" dirty="0">
                <a:solidFill>
                  <a:schemeClr val="tx1"/>
                </a:solidFill>
              </a:rPr>
              <a:t>Rather than suppress them, I traced the constraint and upgraded the package holding the version down.</a:t>
            </a:r>
            <a:endParaRPr lang="en-US" sz="1300" dirty="0"/>
          </a:p>
          <a:p>
            <a:pPr marL="342900" indent="-342900">
              <a:spcAft>
                <a:spcPts val="700"/>
              </a:spcAft>
              <a:buSzPct val="100000"/>
              <a:buChar char="•"/>
            </a:pPr>
            <a:r>
              <a:rPr lang="en-US" sz="1300" dirty="0">
                <a:solidFill>
                  <a:schemeClr val="tx1"/>
                </a:solidFill>
              </a:rPr>
              <a:t>The entire Python section of the report disappeared — removed at the source, not filtered out of view.</a:t>
            </a:r>
            <a:endParaRPr lang="en-US" sz="13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Kubernetes and Helm</a:t>
            </a:r>
            <a:endParaRPr lang="en-US" sz="3400" dirty="0"/>
          </a:p>
        </p:txBody>
      </p:sp>
      <p:sp>
        <p:nvSpPr>
          <p:cNvPr id="3" name="card-0.7-1.4"/>
          <p:cNvSpPr/>
          <p:nvPr/>
        </p:nvSpPr>
        <p:spPr>
          <a:xfrm>
            <a:off x="640080" y="1280160"/>
            <a:ext cx="2148840" cy="1371600"/>
          </a:xfrm>
          <a:prstGeom prst="roundRect">
            <a:avLst>
              <a:gd name="adj" fmla="val 5333"/>
            </a:avLst>
          </a:prstGeom>
          <a:solidFill>
            <a:srgbClr val="F1F5F9"/>
          </a:solidFill>
          <a:ln w="12700">
            <a:solidFill>
              <a:srgbClr val="E2E8F0"/>
            </a:solidFill>
            <a:prstDash val="solid"/>
          </a:ln>
        </p:spPr>
      </p:sp>
      <p:sp>
        <p:nvSpPr>
          <p:cNvPr id="4" name="Text 2"/>
          <p:cNvSpPr txBox="1"/>
          <p:nvPr/>
        </p:nvSpPr>
        <p:spPr>
          <a:xfrm>
            <a:off x="777240" y="1444752"/>
            <a:ext cx="1874520" cy="658368"/>
          </a:xfrm>
          <a:prstGeom prst="rect">
            <a:avLst/>
          </a:prstGeom>
          <a:noFill/>
          <a:ln/>
        </p:spPr>
        <p:txBody>
          <a:bodyPr wrap="square" lIns="0" tIns="0" rIns="0" bIns="0" rtlCol="0" anchor="ctr"/>
          <a:lstStyle/>
          <a:p>
            <a:pPr indent="0" marL="0">
              <a:buNone/>
            </a:pPr>
            <a:r>
              <a:rPr lang="en-US" sz="4000" b="1" dirty="0">
                <a:solidFill>
                  <a:srgbClr val="22C55E"/>
                </a:solidFill>
              </a:rPr>
              <a:t>5/5</a:t>
            </a:r>
            <a:endParaRPr lang="en-US" sz="4000" dirty="0"/>
          </a:p>
        </p:txBody>
      </p:sp>
      <p:sp>
        <p:nvSpPr>
          <p:cNvPr id="5" name="Text 3"/>
          <p:cNvSpPr txBox="1"/>
          <p:nvPr/>
        </p:nvSpPr>
        <p:spPr>
          <a:xfrm>
            <a:off x="777240" y="2148840"/>
            <a:ext cx="1874520" cy="384048"/>
          </a:xfrm>
          <a:prstGeom prst="rect">
            <a:avLst/>
          </a:prstGeom>
          <a:noFill/>
          <a:ln/>
        </p:spPr>
        <p:txBody>
          <a:bodyPr wrap="square" lIns="0" tIns="0" rIns="0" bIns="0" rtlCol="0" anchor="ctr"/>
          <a:lstStyle/>
          <a:p>
            <a:pPr indent="0" marL="0">
              <a:buNone/>
            </a:pPr>
            <a:r>
              <a:rPr lang="en-US" sz="1100" dirty="0">
                <a:solidFill>
                  <a:srgbClr val="64748B"/>
                </a:solidFill>
              </a:rPr>
              <a:t>PODS RUNNING</a:t>
            </a:r>
            <a:endParaRPr lang="en-US" sz="1100" dirty="0"/>
          </a:p>
        </p:txBody>
      </p:sp>
      <p:sp>
        <p:nvSpPr>
          <p:cNvPr id="6" name="card-3.2-1.4"/>
          <p:cNvSpPr/>
          <p:nvPr/>
        </p:nvSpPr>
        <p:spPr>
          <a:xfrm>
            <a:off x="2926080" y="1280160"/>
            <a:ext cx="2148840" cy="1371600"/>
          </a:xfrm>
          <a:prstGeom prst="roundRect">
            <a:avLst>
              <a:gd name="adj" fmla="val 5333"/>
            </a:avLst>
          </a:prstGeom>
          <a:solidFill>
            <a:srgbClr val="F1F5F9"/>
          </a:solidFill>
          <a:ln w="12700">
            <a:solidFill>
              <a:srgbClr val="E2E8F0"/>
            </a:solidFill>
            <a:prstDash val="solid"/>
          </a:ln>
        </p:spPr>
      </p:sp>
      <p:sp>
        <p:nvSpPr>
          <p:cNvPr id="7" name="Text 5"/>
          <p:cNvSpPr txBox="1"/>
          <p:nvPr/>
        </p:nvSpPr>
        <p:spPr>
          <a:xfrm>
            <a:off x="3063240" y="1444752"/>
            <a:ext cx="1874520" cy="658368"/>
          </a:xfrm>
          <a:prstGeom prst="rect">
            <a:avLst/>
          </a:prstGeom>
          <a:noFill/>
          <a:ln/>
        </p:spPr>
        <p:txBody>
          <a:bodyPr wrap="square" lIns="0" tIns="0" rIns="0" bIns="0" rtlCol="0" anchor="ctr"/>
          <a:lstStyle/>
          <a:p>
            <a:pPr indent="0" marL="0">
              <a:buNone/>
            </a:pPr>
            <a:r>
              <a:rPr lang="en-US" sz="4000" b="1" dirty="0">
                <a:solidFill>
                  <a:srgbClr val="065A82"/>
                </a:solidFill>
              </a:rPr>
              <a:t>2+2</a:t>
            </a:r>
            <a:endParaRPr lang="en-US" sz="4000" dirty="0"/>
          </a:p>
        </p:txBody>
      </p:sp>
      <p:sp>
        <p:nvSpPr>
          <p:cNvPr id="8" name="Text 6"/>
          <p:cNvSpPr txBox="1"/>
          <p:nvPr/>
        </p:nvSpPr>
        <p:spPr>
          <a:xfrm>
            <a:off x="3063240" y="2148840"/>
            <a:ext cx="1874520" cy="384048"/>
          </a:xfrm>
          <a:prstGeom prst="rect">
            <a:avLst/>
          </a:prstGeom>
          <a:noFill/>
          <a:ln/>
        </p:spPr>
        <p:txBody>
          <a:bodyPr wrap="square" lIns="0" tIns="0" rIns="0" bIns="0" rtlCol="0" anchor="ctr"/>
          <a:lstStyle/>
          <a:p>
            <a:pPr indent="0" marL="0">
              <a:buNone/>
            </a:pPr>
            <a:r>
              <a:rPr lang="en-US" sz="1100" dirty="0">
                <a:solidFill>
                  <a:srgbClr val="64748B"/>
                </a:solidFill>
              </a:rPr>
              <a:t>APP REPLICAS</a:t>
            </a:r>
            <a:endParaRPr lang="en-US" sz="1100" dirty="0"/>
          </a:p>
        </p:txBody>
      </p:sp>
      <p:sp>
        <p:nvSpPr>
          <p:cNvPr id="9" name="card-5.7-1.4"/>
          <p:cNvSpPr/>
          <p:nvPr/>
        </p:nvSpPr>
        <p:spPr>
          <a:xfrm>
            <a:off x="5212080" y="1280160"/>
            <a:ext cx="2148840" cy="1371600"/>
          </a:xfrm>
          <a:prstGeom prst="roundRect">
            <a:avLst>
              <a:gd name="adj" fmla="val 5333"/>
            </a:avLst>
          </a:prstGeom>
          <a:solidFill>
            <a:srgbClr val="F1F5F9"/>
          </a:solidFill>
          <a:ln w="12700">
            <a:solidFill>
              <a:srgbClr val="E2E8F0"/>
            </a:solidFill>
            <a:prstDash val="solid"/>
          </a:ln>
        </p:spPr>
      </p:sp>
      <p:sp>
        <p:nvSpPr>
          <p:cNvPr id="10" name="Text 8"/>
          <p:cNvSpPr txBox="1"/>
          <p:nvPr/>
        </p:nvSpPr>
        <p:spPr>
          <a:xfrm>
            <a:off x="5349240" y="1444752"/>
            <a:ext cx="1874520" cy="658368"/>
          </a:xfrm>
          <a:prstGeom prst="rect">
            <a:avLst/>
          </a:prstGeom>
          <a:noFill/>
          <a:ln/>
        </p:spPr>
        <p:txBody>
          <a:bodyPr wrap="square" lIns="0" tIns="0" rIns="0" bIns="0" rtlCol="0" anchor="ctr"/>
          <a:lstStyle/>
          <a:p>
            <a:pPr indent="0" marL="0">
              <a:buNone/>
            </a:pPr>
            <a:r>
              <a:rPr lang="en-US" sz="4000" b="1" dirty="0">
                <a:solidFill>
                  <a:srgbClr val="065A82"/>
                </a:solidFill>
              </a:rPr>
              <a:t>11</a:t>
            </a:r>
            <a:endParaRPr lang="en-US" sz="4000" dirty="0"/>
          </a:p>
        </p:txBody>
      </p:sp>
      <p:sp>
        <p:nvSpPr>
          <p:cNvPr id="11" name="Text 9"/>
          <p:cNvSpPr txBox="1"/>
          <p:nvPr/>
        </p:nvSpPr>
        <p:spPr>
          <a:xfrm>
            <a:off x="5349240" y="2148840"/>
            <a:ext cx="1874520" cy="384048"/>
          </a:xfrm>
          <a:prstGeom prst="rect">
            <a:avLst/>
          </a:prstGeom>
          <a:noFill/>
          <a:ln/>
        </p:spPr>
        <p:txBody>
          <a:bodyPr wrap="square" lIns="0" tIns="0" rIns="0" bIns="0" rtlCol="0" anchor="ctr"/>
          <a:lstStyle/>
          <a:p>
            <a:pPr indent="0" marL="0">
              <a:buNone/>
            </a:pPr>
            <a:r>
              <a:rPr lang="en-US" sz="1100" dirty="0">
                <a:solidFill>
                  <a:srgbClr val="64748B"/>
                </a:solidFill>
              </a:rPr>
              <a:t>HELM REVISIONS</a:t>
            </a:r>
            <a:endParaRPr lang="en-US" sz="1100" dirty="0"/>
          </a:p>
        </p:txBody>
      </p:sp>
      <p:sp>
        <p:nvSpPr>
          <p:cNvPr id="12" name="card-8.2-1.4"/>
          <p:cNvSpPr/>
          <p:nvPr/>
        </p:nvSpPr>
        <p:spPr>
          <a:xfrm>
            <a:off x="7498080" y="1280160"/>
            <a:ext cx="2011680" cy="1371600"/>
          </a:xfrm>
          <a:prstGeom prst="roundRect">
            <a:avLst>
              <a:gd name="adj" fmla="val 5333"/>
            </a:avLst>
          </a:prstGeom>
          <a:solidFill>
            <a:srgbClr val="F1F5F9"/>
          </a:solidFill>
          <a:ln w="12700">
            <a:solidFill>
              <a:srgbClr val="E2E8F0"/>
            </a:solidFill>
            <a:prstDash val="solid"/>
          </a:ln>
        </p:spPr>
      </p:sp>
      <p:sp>
        <p:nvSpPr>
          <p:cNvPr id="13" name="Text 11"/>
          <p:cNvSpPr txBox="1"/>
          <p:nvPr/>
        </p:nvSpPr>
        <p:spPr>
          <a:xfrm>
            <a:off x="7635240" y="1444752"/>
            <a:ext cx="1737360" cy="658368"/>
          </a:xfrm>
          <a:prstGeom prst="rect">
            <a:avLst/>
          </a:prstGeom>
          <a:noFill/>
          <a:ln/>
        </p:spPr>
        <p:txBody>
          <a:bodyPr wrap="square" lIns="0" tIns="0" rIns="0" bIns="0" rtlCol="0" anchor="ctr"/>
          <a:lstStyle/>
          <a:p>
            <a:pPr indent="0" marL="0">
              <a:buNone/>
            </a:pPr>
            <a:r>
              <a:rPr lang="en-US" sz="4000" b="1" dirty="0">
                <a:solidFill>
                  <a:srgbClr val="065A82"/>
                </a:solidFill>
              </a:rPr>
              <a:t>1</a:t>
            </a:r>
            <a:endParaRPr lang="en-US" sz="4000" dirty="0"/>
          </a:p>
        </p:txBody>
      </p:sp>
      <p:sp>
        <p:nvSpPr>
          <p:cNvPr id="14" name="Text 12"/>
          <p:cNvSpPr txBox="1"/>
          <p:nvPr/>
        </p:nvSpPr>
        <p:spPr>
          <a:xfrm>
            <a:off x="7635240" y="2148840"/>
            <a:ext cx="1737360" cy="384048"/>
          </a:xfrm>
          <a:prstGeom prst="rect">
            <a:avLst/>
          </a:prstGeom>
          <a:noFill/>
          <a:ln/>
        </p:spPr>
        <p:txBody>
          <a:bodyPr wrap="square" lIns="0" tIns="0" rIns="0" bIns="0" rtlCol="0" anchor="ctr"/>
          <a:lstStyle/>
          <a:p>
            <a:pPr indent="0" marL="0">
              <a:buNone/>
            </a:pPr>
            <a:r>
              <a:rPr lang="en-US" sz="1100" dirty="0">
                <a:solidFill>
                  <a:srgbClr val="64748B"/>
                </a:solidFill>
              </a:rPr>
              <a:t>INGRESS HOST</a:t>
            </a:r>
            <a:endParaRPr lang="en-US" sz="1100" dirty="0"/>
          </a:p>
        </p:txBody>
      </p:sp>
      <p:sp>
        <p:nvSpPr>
          <p:cNvPr id="15" name="card-10.55-1.4"/>
          <p:cNvSpPr/>
          <p:nvPr/>
        </p:nvSpPr>
        <p:spPr>
          <a:xfrm>
            <a:off x="9646920" y="1280160"/>
            <a:ext cx="1965960" cy="1371600"/>
          </a:xfrm>
          <a:prstGeom prst="roundRect">
            <a:avLst>
              <a:gd name="adj" fmla="val 5333"/>
            </a:avLst>
          </a:prstGeom>
          <a:solidFill>
            <a:srgbClr val="F1F5F9"/>
          </a:solidFill>
          <a:ln w="12700">
            <a:solidFill>
              <a:srgbClr val="E2E8F0"/>
            </a:solidFill>
            <a:prstDash val="solid"/>
          </a:ln>
        </p:spPr>
      </p:sp>
      <p:sp>
        <p:nvSpPr>
          <p:cNvPr id="16" name="Text 14"/>
          <p:cNvSpPr txBox="1"/>
          <p:nvPr/>
        </p:nvSpPr>
        <p:spPr>
          <a:xfrm>
            <a:off x="9784080" y="1444752"/>
            <a:ext cx="1691640" cy="658368"/>
          </a:xfrm>
          <a:prstGeom prst="rect">
            <a:avLst/>
          </a:prstGeom>
          <a:noFill/>
          <a:ln/>
        </p:spPr>
        <p:txBody>
          <a:bodyPr wrap="square" lIns="0" tIns="0" rIns="0" bIns="0" rtlCol="0" anchor="ctr"/>
          <a:lstStyle/>
          <a:p>
            <a:pPr indent="0" marL="0">
              <a:buNone/>
            </a:pPr>
            <a:r>
              <a:rPr lang="en-US" sz="4000" b="1" dirty="0">
                <a:solidFill>
                  <a:srgbClr val="065A82"/>
                </a:solidFill>
              </a:rPr>
              <a:t>4</a:t>
            </a:r>
            <a:endParaRPr lang="en-US" sz="4000" dirty="0"/>
          </a:p>
        </p:txBody>
      </p:sp>
      <p:sp>
        <p:nvSpPr>
          <p:cNvPr id="17" name="Text 15"/>
          <p:cNvSpPr txBox="1"/>
          <p:nvPr/>
        </p:nvSpPr>
        <p:spPr>
          <a:xfrm>
            <a:off x="9784080" y="2148840"/>
            <a:ext cx="1691640" cy="384048"/>
          </a:xfrm>
          <a:prstGeom prst="rect">
            <a:avLst/>
          </a:prstGeom>
          <a:noFill/>
          <a:ln/>
        </p:spPr>
        <p:txBody>
          <a:bodyPr wrap="square" lIns="0" tIns="0" rIns="0" bIns="0" rtlCol="0" anchor="ctr"/>
          <a:lstStyle/>
          <a:p>
            <a:pPr indent="0" marL="0">
              <a:buNone/>
            </a:pPr>
            <a:r>
              <a:rPr lang="en-US" sz="1100" dirty="0">
                <a:solidFill>
                  <a:srgbClr val="64748B"/>
                </a:solidFill>
              </a:rPr>
              <a:t>CLUSTERIP SVC</a:t>
            </a:r>
            <a:endParaRPr lang="en-US" sz="1100" dirty="0"/>
          </a:p>
        </p:txBody>
      </p:sp>
      <p:sp>
        <p:nvSpPr>
          <p:cNvPr id="18" name="card-0.7-3.15"/>
          <p:cNvSpPr/>
          <p:nvPr/>
        </p:nvSpPr>
        <p:spPr>
          <a:xfrm>
            <a:off x="640080" y="2880360"/>
            <a:ext cx="5394960" cy="2606040"/>
          </a:xfrm>
          <a:prstGeom prst="roundRect">
            <a:avLst>
              <a:gd name="adj" fmla="val 2807"/>
            </a:avLst>
          </a:prstGeom>
          <a:solidFill>
            <a:srgbClr val="F1F5F9"/>
          </a:solidFill>
          <a:ln w="12700">
            <a:solidFill>
              <a:srgbClr val="E2E8F0"/>
            </a:solidFill>
            <a:prstDash val="solid"/>
          </a:ln>
        </p:spPr>
      </p:sp>
      <p:sp>
        <p:nvSpPr>
          <p:cNvPr id="19" name="Text 17"/>
          <p:cNvSpPr txBox="1"/>
          <p:nvPr/>
        </p:nvSpPr>
        <p:spPr>
          <a:xfrm>
            <a:off x="914400" y="3044952"/>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Eight real defects the chart had</a:t>
            </a:r>
            <a:endParaRPr lang="en-US" sz="1500" dirty="0"/>
          </a:p>
        </p:txBody>
      </p:sp>
      <p:sp>
        <p:nvSpPr>
          <p:cNvPr id="20" name="Text 18"/>
          <p:cNvSpPr txBox="1"/>
          <p:nvPr/>
        </p:nvSpPr>
        <p:spPr>
          <a:xfrm>
            <a:off x="914400" y="3456432"/>
            <a:ext cx="4846320" cy="18288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chemeClr val="tx1"/>
                </a:solidFill>
              </a:rPr>
              <a:t>Ingress pointed at a service that did not exist, on a dead port</a:t>
            </a:r>
            <a:endParaRPr lang="en-US" sz="1100" dirty="0"/>
          </a:p>
          <a:p>
            <a:pPr marL="342900" indent="-342900">
              <a:spcAft>
                <a:spcPts val="500"/>
              </a:spcAft>
              <a:buSzPct val="100000"/>
              <a:buChar char="•"/>
            </a:pPr>
            <a:r>
              <a:rPr lang="en-US" sz="1100" dirty="0">
                <a:solidFill>
                  <a:schemeClr val="tx1"/>
                </a:solidFill>
              </a:rPr>
              <a:t>The frontend could never have started — nginx proxies to a host no Service provided</a:t>
            </a:r>
            <a:endParaRPr lang="en-US" sz="1100" dirty="0"/>
          </a:p>
          <a:p>
            <a:pPr marL="342900" indent="-342900">
              <a:spcAft>
                <a:spcPts val="500"/>
              </a:spcAft>
              <a:buSzPct val="100000"/>
              <a:buChar char="•"/>
            </a:pPr>
            <a:r>
              <a:rPr lang="en-US" sz="1100" dirty="0">
                <a:solidFill>
                  <a:schemeClr val="tx1"/>
                </a:solidFill>
              </a:rPr>
              <a:t>ServiceMonitor aborted the install where Prometheus CRDs were absent</a:t>
            </a:r>
            <a:endParaRPr lang="en-US" sz="1100" dirty="0"/>
          </a:p>
          <a:p>
            <a:pPr marL="342900" indent="-342900">
              <a:spcAft>
                <a:spcPts val="500"/>
              </a:spcAft>
              <a:buSzPct val="100000"/>
              <a:buChar char="•"/>
            </a:pPr>
            <a:r>
              <a:rPr lang="en-US" sz="1100" dirty="0">
                <a:solidFill>
                  <a:schemeClr val="tx1"/>
                </a:solidFill>
              </a:rPr>
              <a:t>Database password sat in the Deployment instead of a Secret</a:t>
            </a:r>
            <a:endParaRPr lang="en-US" sz="1100" dirty="0"/>
          </a:p>
        </p:txBody>
      </p:sp>
      <p:sp>
        <p:nvSpPr>
          <p:cNvPr id="21" name="Text 19"/>
          <p:cNvSpPr txBox="1"/>
          <p:nvPr/>
        </p:nvSpPr>
        <p:spPr>
          <a:xfrm>
            <a:off x="914400" y="5230368"/>
            <a:ext cx="4846320" cy="228600"/>
          </a:xfrm>
          <a:prstGeom prst="rect">
            <a:avLst/>
          </a:prstGeom>
          <a:noFill/>
          <a:ln/>
        </p:spPr>
        <p:txBody>
          <a:bodyPr wrap="square" lIns="0" tIns="0" rIns="0" bIns="0" rtlCol="0" anchor="ctr"/>
          <a:lstStyle/>
          <a:p>
            <a:pPr indent="0" marL="0">
              <a:buNone/>
            </a:pPr>
            <a:r>
              <a:rPr lang="en-US" sz="1000" i="1" dirty="0">
                <a:solidFill>
                  <a:srgbClr val="EF4444"/>
                </a:solidFill>
              </a:rPr>
              <a:t>helm lint passed with zero failures. Lint checks syntax, not wiring.</a:t>
            </a:r>
            <a:endParaRPr lang="en-US" sz="1000" dirty="0"/>
          </a:p>
        </p:txBody>
      </p:sp>
      <p:sp>
        <p:nvSpPr>
          <p:cNvPr id="22" name="card-6.85-3.15"/>
          <p:cNvSpPr/>
          <p:nvPr/>
        </p:nvSpPr>
        <p:spPr>
          <a:xfrm>
            <a:off x="6263640" y="2880360"/>
            <a:ext cx="5349240" cy="2606040"/>
          </a:xfrm>
          <a:prstGeom prst="roundRect">
            <a:avLst>
              <a:gd name="adj" fmla="val 2807"/>
            </a:avLst>
          </a:prstGeom>
          <a:solidFill>
            <a:srgbClr val="0F172A"/>
          </a:solidFill>
          <a:ln w="12700">
            <a:solidFill>
              <a:srgbClr val="E2E8F0"/>
            </a:solidFill>
            <a:prstDash val="solid"/>
          </a:ln>
        </p:spPr>
      </p:sp>
      <p:sp>
        <p:nvSpPr>
          <p:cNvPr id="23" name="Text 21"/>
          <p:cNvSpPr txBox="1"/>
          <p:nvPr/>
        </p:nvSpPr>
        <p:spPr>
          <a:xfrm>
            <a:off x="6537960" y="3044952"/>
            <a:ext cx="4846320" cy="320040"/>
          </a:xfrm>
          <a:prstGeom prst="rect">
            <a:avLst/>
          </a:prstGeom>
          <a:noFill/>
          <a:ln/>
        </p:spPr>
        <p:txBody>
          <a:bodyPr wrap="square" lIns="0" tIns="0" rIns="0" bIns="0" rtlCol="0" anchor="ctr"/>
          <a:lstStyle/>
          <a:p>
            <a:pPr indent="0" marL="0">
              <a:buNone/>
            </a:pPr>
            <a:r>
              <a:rPr lang="en-US" sz="1500" b="1" dirty="0">
                <a:solidFill>
                  <a:srgbClr val="FFFFFF"/>
                </a:solidFill>
              </a:rPr>
              <a:t>Proven, not asserted</a:t>
            </a:r>
            <a:endParaRPr lang="en-US" sz="1500" dirty="0"/>
          </a:p>
        </p:txBody>
      </p:sp>
      <p:sp>
        <p:nvSpPr>
          <p:cNvPr id="24" name="Text 22"/>
          <p:cNvSpPr txBox="1"/>
          <p:nvPr/>
        </p:nvSpPr>
        <p:spPr>
          <a:xfrm>
            <a:off x="6537960" y="3493008"/>
            <a:ext cx="4846320" cy="1554480"/>
          </a:xfrm>
          <a:prstGeom prst="rect">
            <a:avLst/>
          </a:prstGeom>
          <a:noFill/>
          <a:ln/>
        </p:spPr>
        <p:txBody>
          <a:bodyPr wrap="square" lIns="0" tIns="0" rIns="0" bIns="0" rtlCol="0" anchor="ctr"/>
          <a:lstStyle/>
          <a:p>
            <a:pPr indent="0" marL="0">
              <a:spcAft>
                <a:spcPts val="700"/>
              </a:spcAft>
              <a:buNone/>
            </a:pPr>
            <a:r>
              <a:rPr lang="en-US" sz="1200" dirty="0">
                <a:solidFill>
                  <a:srgbClr val="86EFAC"/>
                </a:solidFill>
                <a:latin typeface="Courier New" pitchFamily="34" charset="0"/>
                <a:ea typeface="Courier New" pitchFamily="34" charset="-122"/>
                <a:cs typeface="Courier New" pitchFamily="34" charset="-120"/>
              </a:rPr>
              <a:t>POST a ticket through the Ingress → 201</a:t>
            </a:r>
            <a:endParaRPr lang="en-US" sz="1200" dirty="0"/>
          </a:p>
          <a:p>
            <a:pPr indent="0" marL="0">
              <a:spcAft>
                <a:spcPts val="700"/>
              </a:spcAft>
              <a:buNone/>
            </a:pPr>
            <a:r>
              <a:rPr lang="en-US" sz="1200" dirty="0">
                <a:solidFill>
                  <a:srgbClr val="FCA5A5"/>
                </a:solidFill>
                <a:latin typeface="Courier New" pitchFamily="34" charset="0"/>
                <a:ea typeface="Courier New" pitchFamily="34" charset="-122"/>
                <a:cs typeface="Courier New" pitchFamily="34" charset="-120"/>
              </a:rPr>
              <a:t>delete BOTH backend pods</a:t>
            </a:r>
            <a:endParaRPr lang="en-US" sz="1200" dirty="0"/>
          </a:p>
          <a:p>
            <a:pPr indent="0" marL="0">
              <a:spcAft>
                <a:spcPts val="700"/>
              </a:spcAft>
              <a:buNone/>
            </a:pPr>
            <a:r>
              <a:rPr lang="en-US" sz="1200" dirty="0">
                <a:solidFill>
                  <a:srgbClr val="86EFAC"/>
                </a:solidFill>
                <a:latin typeface="Courier New" pitchFamily="34" charset="0"/>
                <a:ea typeface="Courier New" pitchFamily="34" charset="-122"/>
                <a:cs typeface="Courier New" pitchFamily="34" charset="-120"/>
              </a:rPr>
              <a:t>read the same ticket back → still there</a:t>
            </a:r>
            <a:endParaRPr lang="en-US" sz="1200" dirty="0"/>
          </a:p>
          <a:p>
            <a:pPr indent="0" marL="0">
              <a:spcAft>
                <a:spcPts val="700"/>
              </a:spcAft>
              <a:buNone/>
            </a:pPr>
            <a:r>
              <a:rPr lang="en-US" sz="1200" dirty="0">
                <a:solidFill>
                  <a:srgbClr val="7DD3FC"/>
                </a:solidFill>
                <a:latin typeface="Courier New" pitchFamily="34" charset="0"/>
                <a:ea typeface="Courier New" pitchFamily="34" charset="-122"/>
                <a:cs typeface="Courier New" pitchFamily="34" charset="-120"/>
              </a:rPr>
              <a:t>confirmed as a row in PostgreSQL via psql</a:t>
            </a:r>
            <a:endParaRPr lang="en-US" sz="1200" dirty="0"/>
          </a:p>
        </p:txBody>
      </p:sp>
      <p:sp>
        <p:nvSpPr>
          <p:cNvPr id="25" name="Text 23"/>
          <p:cNvSpPr txBox="1"/>
          <p:nvPr/>
        </p:nvSpPr>
        <p:spPr>
          <a:xfrm>
            <a:off x="6537960" y="5120640"/>
            <a:ext cx="4846320" cy="274320"/>
          </a:xfrm>
          <a:prstGeom prst="rect">
            <a:avLst/>
          </a:prstGeom>
          <a:noFill/>
          <a:ln/>
        </p:spPr>
        <p:txBody>
          <a:bodyPr wrap="square" lIns="0" tIns="0" rIns="0" bIns="0" rtlCol="0" anchor="ctr"/>
          <a:lstStyle/>
          <a:p>
            <a:pPr indent="0" marL="0">
              <a:buNone/>
            </a:pPr>
            <a:r>
              <a:rPr lang="en-US" sz="1100" dirty="0">
                <a:solidFill>
                  <a:srgbClr val="CBD5E1"/>
                </a:solidFill>
              </a:rPr>
              <a:t>maxUnavailable: 0 means two image swaps never dropped a request.</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Observability</a:t>
            </a:r>
            <a:endParaRPr lang="en-US" sz="3400" dirty="0"/>
          </a:p>
        </p:txBody>
      </p:sp>
      <p:pic>
        <p:nvPicPr>
          <p:cNvPr id="3" name="Image 0" descr="/Users/aman/Desktop/devops-heros/helpdesk-capstone/docs/screenshots/grafana-dashboard.jpg">    </p:cNvPr>
          <p:cNvPicPr>
            <a:picLocks noChangeAspect="1"/>
          </p:cNvPicPr>
          <p:nvPr/>
        </p:nvPicPr>
        <p:blipFill>
          <a:blip r:embed="rId1"/>
          <a:stretch>
            <a:fillRect/>
          </a:stretch>
        </p:blipFill>
        <p:spPr>
          <a:xfrm>
            <a:off x="640080" y="1234440"/>
            <a:ext cx="7223760" cy="3657600"/>
          </a:xfrm>
          <a:prstGeom prst="rect">
            <a:avLst/>
          </a:prstGeom>
        </p:spPr>
      </p:pic>
      <p:sp>
        <p:nvSpPr>
          <p:cNvPr id="4" name="Text 1"/>
          <p:cNvSpPr txBox="1"/>
          <p:nvPr/>
        </p:nvSpPr>
        <p:spPr>
          <a:xfrm>
            <a:off x="640080" y="4983480"/>
            <a:ext cx="7223760" cy="274320"/>
          </a:xfrm>
          <a:prstGeom prst="rect">
            <a:avLst/>
          </a:prstGeom>
          <a:noFill/>
          <a:ln/>
        </p:spPr>
        <p:txBody>
          <a:bodyPr wrap="square" lIns="0" tIns="0" rIns="0" bIns="0" rtlCol="0" anchor="ctr"/>
          <a:lstStyle/>
          <a:p>
            <a:pPr indent="0" marL="0">
              <a:buNone/>
            </a:pPr>
            <a:r>
              <a:rPr lang="en-US" sz="1000" i="1" dirty="0">
                <a:solidFill>
                  <a:srgbClr val="64748B"/>
                </a:solidFill>
              </a:rPr>
              <a:t>23 panels on the application's own instrumentation, not node statistics</a:t>
            </a:r>
            <a:endParaRPr lang="en-US" sz="1000" dirty="0"/>
          </a:p>
        </p:txBody>
      </p:sp>
      <p:sp>
        <p:nvSpPr>
          <p:cNvPr id="5" name="card-8.95-1.35"/>
          <p:cNvSpPr/>
          <p:nvPr/>
        </p:nvSpPr>
        <p:spPr>
          <a:xfrm>
            <a:off x="8183880" y="1234440"/>
            <a:ext cx="3429000" cy="1097280"/>
          </a:xfrm>
          <a:prstGeom prst="roundRect">
            <a:avLst>
              <a:gd name="adj" fmla="val 6667"/>
            </a:avLst>
          </a:prstGeom>
          <a:solidFill>
            <a:srgbClr val="F1F5F9"/>
          </a:solidFill>
          <a:ln w="12700">
            <a:solidFill>
              <a:srgbClr val="E2E8F0"/>
            </a:solidFill>
            <a:prstDash val="solid"/>
          </a:ln>
        </p:spPr>
      </p:sp>
      <p:sp>
        <p:nvSpPr>
          <p:cNvPr id="6" name="Text 3"/>
          <p:cNvSpPr txBox="1"/>
          <p:nvPr/>
        </p:nvSpPr>
        <p:spPr>
          <a:xfrm>
            <a:off x="8412480" y="1371600"/>
            <a:ext cx="3017520" cy="457200"/>
          </a:xfrm>
          <a:prstGeom prst="rect">
            <a:avLst/>
          </a:prstGeom>
          <a:noFill/>
          <a:ln/>
        </p:spPr>
        <p:txBody>
          <a:bodyPr wrap="square" lIns="0" tIns="0" rIns="0" bIns="0" rtlCol="0" anchor="ctr"/>
          <a:lstStyle/>
          <a:p>
            <a:pPr indent="0" marL="0">
              <a:buNone/>
            </a:pPr>
            <a:r>
              <a:rPr lang="en-US" sz="2600" b="1" dirty="0">
                <a:solidFill>
                  <a:srgbClr val="22C55E"/>
                </a:solidFill>
              </a:rPr>
              <a:t>2/2</a:t>
            </a:r>
            <a:endParaRPr lang="en-US" sz="2600" dirty="0"/>
          </a:p>
        </p:txBody>
      </p:sp>
      <p:sp>
        <p:nvSpPr>
          <p:cNvPr id="7" name="Text 4"/>
          <p:cNvSpPr txBox="1"/>
          <p:nvPr/>
        </p:nvSpPr>
        <p:spPr>
          <a:xfrm>
            <a:off x="8412480" y="1856232"/>
            <a:ext cx="3017520" cy="365760"/>
          </a:xfrm>
          <a:prstGeom prst="rect">
            <a:avLst/>
          </a:prstGeom>
          <a:noFill/>
          <a:ln/>
        </p:spPr>
        <p:txBody>
          <a:bodyPr wrap="square" lIns="0" tIns="0" rIns="0" bIns="0" rtlCol="0" anchor="ctr"/>
          <a:lstStyle/>
          <a:p>
            <a:pPr indent="0" marL="0">
              <a:buNone/>
            </a:pPr>
            <a:r>
              <a:rPr lang="en-US" sz="1100" dirty="0">
                <a:solidFill>
                  <a:srgbClr val="64748B"/>
                </a:solidFill>
              </a:rPr>
              <a:t>targets up, no scrape errors</a:t>
            </a:r>
            <a:endParaRPr lang="en-US" sz="1100" dirty="0"/>
          </a:p>
        </p:txBody>
      </p:sp>
      <p:sp>
        <p:nvSpPr>
          <p:cNvPr id="8" name="card-8.95-2.75"/>
          <p:cNvSpPr/>
          <p:nvPr/>
        </p:nvSpPr>
        <p:spPr>
          <a:xfrm>
            <a:off x="8183880" y="2514600"/>
            <a:ext cx="3429000" cy="1097280"/>
          </a:xfrm>
          <a:prstGeom prst="roundRect">
            <a:avLst>
              <a:gd name="adj" fmla="val 6667"/>
            </a:avLst>
          </a:prstGeom>
          <a:solidFill>
            <a:srgbClr val="F1F5F9"/>
          </a:solidFill>
          <a:ln w="12700">
            <a:solidFill>
              <a:srgbClr val="E2E8F0"/>
            </a:solidFill>
            <a:prstDash val="solid"/>
          </a:ln>
        </p:spPr>
      </p:sp>
      <p:sp>
        <p:nvSpPr>
          <p:cNvPr id="9" name="Text 6"/>
          <p:cNvSpPr txBox="1"/>
          <p:nvPr/>
        </p:nvSpPr>
        <p:spPr>
          <a:xfrm>
            <a:off x="8412480" y="2651760"/>
            <a:ext cx="3017520" cy="457200"/>
          </a:xfrm>
          <a:prstGeom prst="rect">
            <a:avLst/>
          </a:prstGeom>
          <a:noFill/>
          <a:ln/>
        </p:spPr>
        <p:txBody>
          <a:bodyPr wrap="square" lIns="0" tIns="0" rIns="0" bIns="0" rtlCol="0" anchor="ctr"/>
          <a:lstStyle/>
          <a:p>
            <a:pPr indent="0" marL="0">
              <a:buNone/>
            </a:pPr>
            <a:r>
              <a:rPr lang="en-US" sz="2600" b="1" dirty="0">
                <a:solidFill>
                  <a:srgbClr val="065A82"/>
                </a:solidFill>
              </a:rPr>
              <a:t>9.87 ms</a:t>
            </a:r>
            <a:endParaRPr lang="en-US" sz="2600" dirty="0"/>
          </a:p>
        </p:txBody>
      </p:sp>
      <p:sp>
        <p:nvSpPr>
          <p:cNvPr id="10" name="Text 7"/>
          <p:cNvSpPr txBox="1"/>
          <p:nvPr/>
        </p:nvSpPr>
        <p:spPr>
          <a:xfrm>
            <a:off x="8412480" y="3136392"/>
            <a:ext cx="3017520" cy="365760"/>
          </a:xfrm>
          <a:prstGeom prst="rect">
            <a:avLst/>
          </a:prstGeom>
          <a:noFill/>
          <a:ln/>
        </p:spPr>
        <p:txBody>
          <a:bodyPr wrap="square" lIns="0" tIns="0" rIns="0" bIns="0" rtlCol="0" anchor="ctr"/>
          <a:lstStyle/>
          <a:p>
            <a:pPr indent="0" marL="0">
              <a:buNone/>
            </a:pPr>
            <a:r>
              <a:rPr lang="en-US" sz="1100" dirty="0">
                <a:solidFill>
                  <a:srgbClr val="64748B"/>
                </a:solidFill>
              </a:rPr>
              <a:t>p95 latency under load</a:t>
            </a:r>
            <a:endParaRPr lang="en-US" sz="1100" dirty="0"/>
          </a:p>
        </p:txBody>
      </p:sp>
      <p:sp>
        <p:nvSpPr>
          <p:cNvPr id="11" name="card-8.95-4.15"/>
          <p:cNvSpPr/>
          <p:nvPr/>
        </p:nvSpPr>
        <p:spPr>
          <a:xfrm>
            <a:off x="8183880" y="3794760"/>
            <a:ext cx="3429000" cy="1097280"/>
          </a:xfrm>
          <a:prstGeom prst="roundRect">
            <a:avLst>
              <a:gd name="adj" fmla="val 6667"/>
            </a:avLst>
          </a:prstGeom>
          <a:solidFill>
            <a:srgbClr val="F1F5F9"/>
          </a:solidFill>
          <a:ln w="12700">
            <a:solidFill>
              <a:srgbClr val="E2E8F0"/>
            </a:solidFill>
            <a:prstDash val="solid"/>
          </a:ln>
        </p:spPr>
      </p:sp>
      <p:sp>
        <p:nvSpPr>
          <p:cNvPr id="12" name="Text 9"/>
          <p:cNvSpPr txBox="1"/>
          <p:nvPr/>
        </p:nvSpPr>
        <p:spPr>
          <a:xfrm>
            <a:off x="8412480" y="3931920"/>
            <a:ext cx="3017520" cy="457200"/>
          </a:xfrm>
          <a:prstGeom prst="rect">
            <a:avLst/>
          </a:prstGeom>
          <a:noFill/>
          <a:ln/>
        </p:spPr>
        <p:txBody>
          <a:bodyPr wrap="square" lIns="0" tIns="0" rIns="0" bIns="0" rtlCol="0" anchor="ctr"/>
          <a:lstStyle/>
          <a:p>
            <a:pPr indent="0" marL="0">
              <a:buNone/>
            </a:pPr>
            <a:r>
              <a:rPr lang="en-US" sz="2600" b="1" dirty="0">
                <a:solidFill>
                  <a:srgbClr val="1C7293"/>
                </a:solidFill>
              </a:rPr>
              <a:t>8</a:t>
            </a:r>
            <a:endParaRPr lang="en-US" sz="2600" dirty="0"/>
          </a:p>
        </p:txBody>
      </p:sp>
      <p:sp>
        <p:nvSpPr>
          <p:cNvPr id="13" name="Text 10"/>
          <p:cNvSpPr txBox="1"/>
          <p:nvPr/>
        </p:nvSpPr>
        <p:spPr>
          <a:xfrm>
            <a:off x="8412480" y="4416552"/>
            <a:ext cx="3017520" cy="365760"/>
          </a:xfrm>
          <a:prstGeom prst="rect">
            <a:avLst/>
          </a:prstGeom>
          <a:noFill/>
          <a:ln/>
        </p:spPr>
        <p:txBody>
          <a:bodyPr wrap="square" lIns="0" tIns="0" rIns="0" bIns="0" rtlCol="0" anchor="ctr"/>
          <a:lstStyle/>
          <a:p>
            <a:pPr indent="0" marL="0">
              <a:buNone/>
            </a:pPr>
            <a:r>
              <a:rPr lang="en-US" sz="1100" dirty="0">
                <a:solidFill>
                  <a:srgbClr val="64748B"/>
                </a:solidFill>
              </a:rPr>
              <a:t>recording rules + 3 alerts</a:t>
            </a:r>
            <a:endParaRPr lang="en-US" sz="1100" dirty="0"/>
          </a:p>
        </p:txBody>
      </p:sp>
      <p:sp>
        <p:nvSpPr>
          <p:cNvPr id="14" name="Text 11"/>
          <p:cNvSpPr txBox="1"/>
          <p:nvPr/>
        </p:nvSpPr>
        <p:spPr>
          <a:xfrm>
            <a:off x="8183880" y="5120640"/>
            <a:ext cx="3429000" cy="1005840"/>
          </a:xfrm>
          <a:prstGeom prst="rect">
            <a:avLst/>
          </a:prstGeom>
          <a:noFill/>
          <a:ln/>
        </p:spPr>
        <p:txBody>
          <a:bodyPr wrap="square" lIns="0" tIns="0" rIns="0" bIns="0" rtlCol="0" anchor="ctr"/>
          <a:lstStyle/>
          <a:p>
            <a:pPr indent="0" marL="0">
              <a:buNone/>
            </a:pPr>
            <a:r>
              <a:rPr lang="en-US" sz="1000" dirty="0">
                <a:solidFill>
                  <a:srgbClr val="64748B"/>
                </a:solidFill>
              </a:rPr>
              <a:t>Two bugs I caught in my own queries: the fallback scrape job double-counted every series, and an SLO rule read a histogram bucket that does not exist, so it silently returned nothing.</a:t>
            </a:r>
            <a:endParaRPr lang="en-US" sz="1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Infrastructure as code — and what I could not do</a:t>
            </a:r>
            <a:endParaRPr lang="en-US" sz="3400" dirty="0"/>
          </a:p>
        </p:txBody>
      </p:sp>
      <p:sp>
        <p:nvSpPr>
          <p:cNvPr id="3" name="card-0.7-1.4"/>
          <p:cNvSpPr/>
          <p:nvPr/>
        </p:nvSpPr>
        <p:spPr>
          <a:xfrm>
            <a:off x="640080" y="1280160"/>
            <a:ext cx="5394960" cy="2011680"/>
          </a:xfrm>
          <a:prstGeom prst="roundRect">
            <a:avLst>
              <a:gd name="adj" fmla="val 3636"/>
            </a:avLst>
          </a:prstGeom>
          <a:solidFill>
            <a:srgbClr val="DCFCE7"/>
          </a:solidFill>
          <a:ln w="12700">
            <a:solidFill>
              <a:srgbClr val="E2E8F0"/>
            </a:solidFill>
            <a:prstDash val="solid"/>
          </a:ln>
        </p:spPr>
      </p:sp>
      <p:sp>
        <p:nvSpPr>
          <p:cNvPr id="4" name="Text 2"/>
          <p:cNvSpPr txBox="1"/>
          <p:nvPr/>
        </p:nvSpPr>
        <p:spPr>
          <a:xfrm>
            <a:off x="914400" y="1444752"/>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Really applied, and destroyed</a:t>
            </a:r>
            <a:endParaRPr lang="en-US" sz="1500" dirty="0"/>
          </a:p>
        </p:txBody>
      </p:sp>
      <p:sp>
        <p:nvSpPr>
          <p:cNvPr id="5" name="Text 3"/>
          <p:cNvSpPr txBox="1"/>
          <p:nvPr/>
        </p:nvSpPr>
        <p:spPr>
          <a:xfrm>
            <a:off x="914400" y="1828800"/>
            <a:ext cx="4846320" cy="1325880"/>
          </a:xfrm>
          <a:prstGeom prst="rect">
            <a:avLst/>
          </a:prstGeom>
          <a:noFill/>
          <a:ln/>
        </p:spPr>
        <p:txBody>
          <a:bodyPr wrap="square" lIns="0" tIns="0" rIns="0" bIns="0" rtlCol="0" anchor="ctr"/>
          <a:lstStyle/>
          <a:p>
            <a:pPr indent="0" marL="0">
              <a:buNone/>
            </a:pPr>
            <a:r>
              <a:rPr lang="en-US" sz="1200" dirty="0">
                <a:solidFill>
                  <a:schemeClr val="tx1"/>
                </a:solidFill>
              </a:rPr>
              <a:t>20 resources — VPC, two public subnets across two availability zones, private subnets, internet gateway, NAT, route tables, security groups. Verified with the AWS CLI, then destroyed and verified empty.</a:t>
            </a:r>
            <a:endParaRPr lang="en-US" sz="1200" dirty="0"/>
          </a:p>
        </p:txBody>
      </p:sp>
      <p:sp>
        <p:nvSpPr>
          <p:cNvPr id="6" name="card-6.85-1.4"/>
          <p:cNvSpPr/>
          <p:nvPr/>
        </p:nvSpPr>
        <p:spPr>
          <a:xfrm>
            <a:off x="6263640" y="1280160"/>
            <a:ext cx="5349240" cy="2011680"/>
          </a:xfrm>
          <a:prstGeom prst="roundRect">
            <a:avLst>
              <a:gd name="adj" fmla="val 3636"/>
            </a:avLst>
          </a:prstGeom>
          <a:solidFill>
            <a:srgbClr val="FEF3C7"/>
          </a:solidFill>
          <a:ln w="12700">
            <a:solidFill>
              <a:srgbClr val="E2E8F0"/>
            </a:solidFill>
            <a:prstDash val="solid"/>
          </a:ln>
        </p:spPr>
      </p:sp>
      <p:sp>
        <p:nvSpPr>
          <p:cNvPr id="7" name="Text 5"/>
          <p:cNvSpPr txBox="1"/>
          <p:nvPr/>
        </p:nvSpPr>
        <p:spPr>
          <a:xfrm>
            <a:off x="6537960" y="1444752"/>
            <a:ext cx="4846320" cy="320040"/>
          </a:xfrm>
          <a:prstGeom prst="rect">
            <a:avLst/>
          </a:prstGeom>
          <a:noFill/>
          <a:ln/>
        </p:spPr>
        <p:txBody>
          <a:bodyPr wrap="square" lIns="0" tIns="0" rIns="0" bIns="0" rtlCol="0" anchor="ctr"/>
          <a:lstStyle/>
          <a:p>
            <a:pPr indent="0" marL="0">
              <a:buNone/>
            </a:pPr>
            <a:r>
              <a:rPr lang="en-US" sz="1500" b="1" dirty="0">
                <a:solidFill>
                  <a:schemeClr val="tx1"/>
                </a:solidFill>
              </a:rPr>
              <a:t>Planned only, never created</a:t>
            </a:r>
            <a:endParaRPr lang="en-US" sz="1500" dirty="0"/>
          </a:p>
        </p:txBody>
      </p:sp>
      <p:sp>
        <p:nvSpPr>
          <p:cNvPr id="8" name="Text 6"/>
          <p:cNvSpPr txBox="1"/>
          <p:nvPr/>
        </p:nvSpPr>
        <p:spPr>
          <a:xfrm>
            <a:off x="6537960" y="1828800"/>
            <a:ext cx="4846320" cy="1325880"/>
          </a:xfrm>
          <a:prstGeom prst="rect">
            <a:avLst/>
          </a:prstGeom>
          <a:noFill/>
          <a:ln/>
        </p:spPr>
        <p:txBody>
          <a:bodyPr wrap="square" lIns="0" tIns="0" rIns="0" bIns="0" rtlCol="0" anchor="ctr"/>
          <a:lstStyle/>
          <a:p>
            <a:pPr indent="0" marL="0">
              <a:buNone/>
            </a:pPr>
            <a:r>
              <a:rPr lang="en-US" sz="1200" dirty="0">
                <a:solidFill>
                  <a:schemeClr val="tx1"/>
                </a:solidFill>
              </a:rPr>
              <a:t>The EKS cluster and its managed node group. A genuine 35-resource plan with no errors — but the emulator I used does not implement the EKS API at all, and I have no AWS account.</a:t>
            </a:r>
            <a:endParaRPr lang="en-US" sz="1200" dirty="0"/>
          </a:p>
        </p:txBody>
      </p:sp>
      <p:sp>
        <p:nvSpPr>
          <p:cNvPr id="9" name="card-0.7-3.85"/>
          <p:cNvSpPr/>
          <p:nvPr/>
        </p:nvSpPr>
        <p:spPr>
          <a:xfrm>
            <a:off x="640080" y="3520440"/>
            <a:ext cx="10972800" cy="1920240"/>
          </a:xfrm>
          <a:prstGeom prst="roundRect">
            <a:avLst>
              <a:gd name="adj" fmla="val 3810"/>
            </a:avLst>
          </a:prstGeom>
          <a:solidFill>
            <a:srgbClr val="0F172A"/>
          </a:solidFill>
          <a:ln w="12700">
            <a:solidFill>
              <a:srgbClr val="E2E8F0"/>
            </a:solidFill>
            <a:prstDash val="solid"/>
          </a:ln>
        </p:spPr>
      </p:sp>
      <p:sp>
        <p:nvSpPr>
          <p:cNvPr id="10" name="Text 8"/>
          <p:cNvSpPr txBox="1"/>
          <p:nvPr/>
        </p:nvSpPr>
        <p:spPr>
          <a:xfrm>
            <a:off x="914400" y="3703320"/>
            <a:ext cx="10424160" cy="320040"/>
          </a:xfrm>
          <a:prstGeom prst="rect">
            <a:avLst/>
          </a:prstGeom>
          <a:noFill/>
          <a:ln/>
        </p:spPr>
        <p:txBody>
          <a:bodyPr wrap="square" lIns="0" tIns="0" rIns="0" bIns="0" rtlCol="0" anchor="ctr"/>
          <a:lstStyle/>
          <a:p>
            <a:pPr indent="0" marL="0">
              <a:buNone/>
            </a:pPr>
            <a:r>
              <a:rPr lang="en-US" sz="1600" b="1" dirty="0">
                <a:solidFill>
                  <a:srgbClr val="FFFFFF"/>
                </a:solidFill>
              </a:rPr>
              <a:t>I would rather lose the points than imply a cluster exists</a:t>
            </a:r>
            <a:endParaRPr lang="en-US" sz="1600" dirty="0"/>
          </a:p>
        </p:txBody>
      </p:sp>
      <p:sp>
        <p:nvSpPr>
          <p:cNvPr id="11" name="Text 9"/>
          <p:cNvSpPr txBox="1"/>
          <p:nvPr/>
        </p:nvSpPr>
        <p:spPr>
          <a:xfrm>
            <a:off x="914400" y="4114800"/>
            <a:ext cx="10424160" cy="1188720"/>
          </a:xfrm>
          <a:prstGeom prst="rect">
            <a:avLst/>
          </a:prstGeom>
          <a:noFill/>
          <a:ln/>
        </p:spPr>
        <p:txBody>
          <a:bodyPr wrap="square" lIns="0" tIns="0" rIns="0" bIns="0" rtlCol="0" anchor="ctr"/>
          <a:lstStyle/>
          <a:p>
            <a:pPr indent="0" marL="0">
              <a:spcAft>
                <a:spcPts val="700"/>
              </a:spcAft>
              <a:buNone/>
            </a:pPr>
            <a:r>
              <a:rPr lang="en-US" sz="1200" dirty="0">
                <a:solidFill>
                  <a:srgbClr val="CBD5E1"/>
                </a:solidFill>
              </a:rPr>
              <a:t>The README says so in its first paragraph. No AWS console screenshot exists and none is claimed.</a:t>
            </a:r>
            <a:endParaRPr lang="en-US" sz="1200" dirty="0"/>
          </a:p>
          <a:p>
            <a:pPr indent="0" marL="0">
              <a:spcAft>
                <a:spcPts val="700"/>
              </a:spcAft>
              <a:buNone/>
            </a:pPr>
            <a:r>
              <a:rPr lang="en-US" sz="1200" dirty="0">
                <a:solidFill>
                  <a:srgbClr val="CBD5E1"/>
                </a:solidFill>
              </a:rPr>
              <a:t>I also captured the control: with the skip flags off, the plan fails with "No valid credential sources found", and ~/.aws does not exist — proof the plan was not quietly run against a hidden account.</a:t>
            </a:r>
            <a:endParaRPr lang="en-US" sz="12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1097280"/>
          </a:xfrm>
          <a:prstGeom prst="rect">
            <a:avLst/>
          </a:prstGeom>
          <a:noFill/>
          <a:ln/>
        </p:spPr>
        <p:txBody>
          <a:bodyPr wrap="square" rtlCol="0"/>
          <a:lstStyle/>
          <a:p>
            <a:pPr algn="l" indent="0" marL="0">
              <a:buNone/>
            </a:pPr>
            <a:r>
              <a:rPr lang="en-US" sz="4000" b="1" dirty="0">
                <a:solidFill>
                  <a:schemeClr val="bg1"/>
                </a:solidFill>
              </a:rPr>
              <a:t>Passing your own tests is not the same as being portable</a:t>
            </a:r>
            <a:endParaRPr lang="en-US" sz="4000" dirty="0"/>
          </a:p>
        </p:txBody>
      </p:sp>
      <p:sp>
        <p:nvSpPr>
          <p:cNvPr id="3" name="Text 0"/>
          <p:cNvSpPr/>
          <p:nvPr>
            <p:ph idx="101" type="body" hasCustomPrompt="1"/>
          </p:nvPr>
        </p:nvSpPr>
        <p:spPr>
          <a:xfrm>
            <a:off x="868680" y="3749040"/>
            <a:ext cx="10515600" cy="914400"/>
          </a:xfrm>
          <a:prstGeom prst="rect">
            <a:avLst/>
          </a:prstGeom>
          <a:noFill/>
          <a:ln/>
        </p:spPr>
        <p:txBody>
          <a:bodyPr wrap="square" rtlCol="0"/>
          <a:lstStyle/>
          <a:p>
            <a:pPr indent="0" marL="0">
              <a:buNone/>
            </a:pPr>
            <a:r>
              <a:rPr lang="en-US" sz="1600" dirty="0">
                <a:solidFill>
                  <a:srgbClr val="CBD5E1"/>
                </a:solidFill>
              </a:rPr>
              <a:t>Three bugs that passed CI, passed the security scan, and ran fine in Kubernetes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972800" cy="777240"/>
          </a:xfrm>
          <a:prstGeom prst="rect">
            <a:avLst/>
          </a:prstGeom>
          <a:noFill/>
          <a:ln/>
        </p:spPr>
        <p:txBody>
          <a:bodyPr wrap="square" rtlCol="0"/>
          <a:lstStyle/>
          <a:p>
            <a:pPr algn="l" indent="0" marL="0">
              <a:buNone/>
            </a:pPr>
            <a:r>
              <a:rPr lang="en-US" sz="3400" b="1" dirty="0">
                <a:solidFill>
                  <a:schemeClr val="tx1"/>
                </a:solidFill>
              </a:rPr>
              <a:t>Three bugs only a stricter host revealed</a:t>
            </a:r>
            <a:endParaRPr lang="en-US" sz="3400" dirty="0"/>
          </a:p>
        </p:txBody>
      </p:sp>
      <p:sp>
        <p:nvSpPr>
          <p:cNvPr id="3" name="card-0.7-1.35"/>
          <p:cNvSpPr/>
          <p:nvPr/>
        </p:nvSpPr>
        <p:spPr>
          <a:xfrm>
            <a:off x="640080" y="1234440"/>
            <a:ext cx="10972800" cy="1417320"/>
          </a:xfrm>
          <a:prstGeom prst="roundRect">
            <a:avLst>
              <a:gd name="adj" fmla="val 5161"/>
            </a:avLst>
          </a:prstGeom>
          <a:solidFill>
            <a:srgbClr val="F1F5F9"/>
          </a:solidFill>
          <a:ln w="12700">
            <a:solidFill>
              <a:srgbClr val="E2E8F0"/>
            </a:solidFill>
            <a:prstDash val="solid"/>
          </a:ln>
        </p:spPr>
      </p:sp>
      <p:sp>
        <p:nvSpPr>
          <p:cNvPr id="4" name="n0"/>
          <p:cNvSpPr/>
          <p:nvPr/>
        </p:nvSpPr>
        <p:spPr>
          <a:xfrm>
            <a:off x="868680" y="1435608"/>
            <a:ext cx="384048" cy="384048"/>
          </a:xfrm>
          <a:prstGeom prst="ellipse">
            <a:avLst/>
          </a:prstGeom>
          <a:solidFill>
            <a:srgbClr val="F59E0B"/>
          </a:solidFill>
          <a:ln w="12700">
            <a:solidFill>
              <a:srgbClr val="F59E0B"/>
            </a:solidFill>
            <a:prstDash val="solid"/>
          </a:ln>
        </p:spPr>
      </p:sp>
      <p:sp>
        <p:nvSpPr>
          <p:cNvPr id="5" name="Text 3"/>
          <p:cNvSpPr txBox="1"/>
          <p:nvPr/>
        </p:nvSpPr>
        <p:spPr>
          <a:xfrm>
            <a:off x="868680" y="143560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6" name="Text 4"/>
          <p:cNvSpPr txBox="1"/>
          <p:nvPr/>
        </p:nvSpPr>
        <p:spPr>
          <a:xfrm>
            <a:off x="1417320" y="1399032"/>
            <a:ext cx="6400800" cy="292608"/>
          </a:xfrm>
          <a:prstGeom prst="rect">
            <a:avLst/>
          </a:prstGeom>
          <a:noFill/>
          <a:ln/>
        </p:spPr>
        <p:txBody>
          <a:bodyPr wrap="square" lIns="0" tIns="0" rIns="0" bIns="0" rtlCol="0" anchor="ctr"/>
          <a:lstStyle/>
          <a:p>
            <a:pPr indent="0" marL="0">
              <a:buNone/>
            </a:pPr>
            <a:r>
              <a:rPr lang="en-US" sz="1500" b="1" dirty="0">
                <a:solidFill>
                  <a:schemeClr val="tx1"/>
                </a:solidFill>
              </a:rPr>
              <a:t>Container up, nothing listening</a:t>
            </a:r>
            <a:endParaRPr lang="en-US" sz="1500" dirty="0"/>
          </a:p>
        </p:txBody>
      </p:sp>
      <p:sp>
        <p:nvSpPr>
          <p:cNvPr id="7" name="Text 5"/>
          <p:cNvSpPr txBox="1"/>
          <p:nvPr/>
        </p:nvSpPr>
        <p:spPr>
          <a:xfrm>
            <a:off x="1417320" y="1737360"/>
            <a:ext cx="6949440" cy="868680"/>
          </a:xfrm>
          <a:prstGeom prst="rect">
            <a:avLst/>
          </a:prstGeom>
          <a:noFill/>
          <a:ln/>
        </p:spPr>
        <p:txBody>
          <a:bodyPr wrap="square" lIns="0" tIns="0" rIns="0" bIns="0" rtlCol="0" anchor="ctr"/>
          <a:lstStyle/>
          <a:p>
            <a:pPr indent="0" marL="0">
              <a:buNone/>
            </a:pPr>
            <a:r>
              <a:rPr lang="en-US" sz="1100" dirty="0">
                <a:solidFill>
                  <a:srgbClr val="64748B"/>
                </a:solidFill>
              </a:rPr>
              <a:t>The stock nginx entrypoint derives a checksum by shelling out to apk, which blocks when run as a non-root user. The process stayed alive, so Docker called it healthy. No HTTP ever answered.</a:t>
            </a:r>
            <a:endParaRPr lang="en-US" sz="1100" dirty="0"/>
          </a:p>
        </p:txBody>
      </p:sp>
      <p:sp>
        <p:nvSpPr>
          <p:cNvPr id="8" name="Text 6"/>
          <p:cNvSpPr txBox="1"/>
          <p:nvPr/>
        </p:nvSpPr>
        <p:spPr>
          <a:xfrm>
            <a:off x="8641080" y="1417320"/>
            <a:ext cx="2743200" cy="228600"/>
          </a:xfrm>
          <a:prstGeom prst="rect">
            <a:avLst/>
          </a:prstGeom>
          <a:noFill/>
          <a:ln/>
        </p:spPr>
        <p:txBody>
          <a:bodyPr wrap="square" lIns="0" tIns="0" rIns="0" bIns="0" rtlCol="0" anchor="ctr"/>
          <a:lstStyle/>
          <a:p>
            <a:pPr indent="0" marL="0">
              <a:buNone/>
            </a:pPr>
            <a:r>
              <a:rPr lang="en-US" sz="900" b="1" spc="100" kern="0" dirty="0">
                <a:solidFill>
                  <a:srgbClr val="0EA5A4"/>
                </a:solidFill>
              </a:rPr>
              <a:t>FIX</a:t>
            </a:r>
            <a:endParaRPr lang="en-US" sz="900" dirty="0"/>
          </a:p>
        </p:txBody>
      </p:sp>
      <p:sp>
        <p:nvSpPr>
          <p:cNvPr id="9" name="Text 7"/>
          <p:cNvSpPr txBox="1"/>
          <p:nvPr/>
        </p:nvSpPr>
        <p:spPr>
          <a:xfrm>
            <a:off x="8641080" y="1673352"/>
            <a:ext cx="2788920" cy="822960"/>
          </a:xfrm>
          <a:prstGeom prst="rect">
            <a:avLst/>
          </a:prstGeom>
          <a:noFill/>
          <a:ln/>
        </p:spPr>
        <p:txBody>
          <a:bodyPr wrap="square" lIns="0" tIns="0" rIns="0" bIns="0" rtlCol="0" anchor="ctr"/>
          <a:lstStyle/>
          <a:p>
            <a:pPr indent="0" marL="0">
              <a:buNone/>
            </a:pPr>
            <a:r>
              <a:rPr lang="en-US" sz="1100" dirty="0">
                <a:solidFill>
                  <a:schemeClr val="tx1"/>
                </a:solidFill>
              </a:rPr>
              <a:t>Removed the script this image replaces anyway</a:t>
            </a:r>
            <a:endParaRPr lang="en-US" sz="1100" dirty="0"/>
          </a:p>
        </p:txBody>
      </p:sp>
      <p:sp>
        <p:nvSpPr>
          <p:cNvPr id="10" name="card-0.7-3.05"/>
          <p:cNvSpPr/>
          <p:nvPr/>
        </p:nvSpPr>
        <p:spPr>
          <a:xfrm>
            <a:off x="640080" y="2788920"/>
            <a:ext cx="10972800" cy="1417320"/>
          </a:xfrm>
          <a:prstGeom prst="roundRect">
            <a:avLst>
              <a:gd name="adj" fmla="val 5161"/>
            </a:avLst>
          </a:prstGeom>
          <a:solidFill>
            <a:srgbClr val="F1F5F9"/>
          </a:solidFill>
          <a:ln w="12700">
            <a:solidFill>
              <a:srgbClr val="E2E8F0"/>
            </a:solidFill>
            <a:prstDash val="solid"/>
          </a:ln>
        </p:spPr>
      </p:sp>
      <p:sp>
        <p:nvSpPr>
          <p:cNvPr id="11" name="n1"/>
          <p:cNvSpPr/>
          <p:nvPr/>
        </p:nvSpPr>
        <p:spPr>
          <a:xfrm>
            <a:off x="868680" y="2990088"/>
            <a:ext cx="384048" cy="384048"/>
          </a:xfrm>
          <a:prstGeom prst="ellipse">
            <a:avLst/>
          </a:prstGeom>
          <a:solidFill>
            <a:srgbClr val="F59E0B"/>
          </a:solidFill>
          <a:ln w="12700">
            <a:solidFill>
              <a:srgbClr val="F59E0B"/>
            </a:solidFill>
            <a:prstDash val="solid"/>
          </a:ln>
        </p:spPr>
      </p:sp>
      <p:sp>
        <p:nvSpPr>
          <p:cNvPr id="12" name="Text 10"/>
          <p:cNvSpPr txBox="1"/>
          <p:nvPr/>
        </p:nvSpPr>
        <p:spPr>
          <a:xfrm>
            <a:off x="868680" y="299008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13" name="Text 11"/>
          <p:cNvSpPr txBox="1"/>
          <p:nvPr/>
        </p:nvSpPr>
        <p:spPr>
          <a:xfrm>
            <a:off x="1417320" y="2953512"/>
            <a:ext cx="6400800" cy="292608"/>
          </a:xfrm>
          <a:prstGeom prst="rect">
            <a:avLst/>
          </a:prstGeom>
          <a:noFill/>
          <a:ln/>
        </p:spPr>
        <p:txBody>
          <a:bodyPr wrap="square" lIns="0" tIns="0" rIns="0" bIns="0" rtlCol="0" anchor="ctr"/>
          <a:lstStyle/>
          <a:p>
            <a:pPr indent="0" marL="0">
              <a:buNone/>
            </a:pPr>
            <a:r>
              <a:rPr lang="en-US" sz="1500" b="1" dirty="0">
                <a:solidFill>
                  <a:schemeClr val="tx1"/>
                </a:solidFill>
              </a:rPr>
              <a:t>exec: Operation not permitted</a:t>
            </a:r>
            <a:endParaRPr lang="en-US" sz="1500" dirty="0"/>
          </a:p>
        </p:txBody>
      </p:sp>
      <p:sp>
        <p:nvSpPr>
          <p:cNvPr id="14" name="Text 12"/>
          <p:cNvSpPr txBox="1"/>
          <p:nvPr/>
        </p:nvSpPr>
        <p:spPr>
          <a:xfrm>
            <a:off x="1417320" y="3291840"/>
            <a:ext cx="6949440" cy="868680"/>
          </a:xfrm>
          <a:prstGeom prst="rect">
            <a:avLst/>
          </a:prstGeom>
          <a:noFill/>
          <a:ln/>
        </p:spPr>
        <p:txBody>
          <a:bodyPr wrap="square" lIns="0" tIns="0" rIns="0" bIns="0" rtlCol="0" anchor="ctr"/>
          <a:lstStyle/>
          <a:p>
            <a:pPr indent="0" marL="0">
              <a:buNone/>
            </a:pPr>
            <a:r>
              <a:rPr lang="en-US" sz="1100" dirty="0">
                <a:solidFill>
                  <a:srgbClr val="64748B"/>
                </a:solidFill>
              </a:rPr>
              <a:t>The binary carried a capability so an unprivileged user could bind port 80. A host setting no_new_privileges refuses to execute a file with capabilities. Kubernetes allowed it; the stricter host did not.</a:t>
            </a:r>
            <a:endParaRPr lang="en-US" sz="1100" dirty="0"/>
          </a:p>
        </p:txBody>
      </p:sp>
      <p:sp>
        <p:nvSpPr>
          <p:cNvPr id="15" name="Text 13"/>
          <p:cNvSpPr txBox="1"/>
          <p:nvPr/>
        </p:nvSpPr>
        <p:spPr>
          <a:xfrm>
            <a:off x="8641080" y="2971800"/>
            <a:ext cx="2743200" cy="228600"/>
          </a:xfrm>
          <a:prstGeom prst="rect">
            <a:avLst/>
          </a:prstGeom>
          <a:noFill/>
          <a:ln/>
        </p:spPr>
        <p:txBody>
          <a:bodyPr wrap="square" lIns="0" tIns="0" rIns="0" bIns="0" rtlCol="0" anchor="ctr"/>
          <a:lstStyle/>
          <a:p>
            <a:pPr indent="0" marL="0">
              <a:buNone/>
            </a:pPr>
            <a:r>
              <a:rPr lang="en-US" sz="900" b="1" spc="100" kern="0" dirty="0">
                <a:solidFill>
                  <a:srgbClr val="0EA5A4"/>
                </a:solidFill>
              </a:rPr>
              <a:t>FIX</a:t>
            </a:r>
            <a:endParaRPr lang="en-US" sz="900" dirty="0"/>
          </a:p>
        </p:txBody>
      </p:sp>
      <p:sp>
        <p:nvSpPr>
          <p:cNvPr id="16" name="Text 14"/>
          <p:cNvSpPr txBox="1"/>
          <p:nvPr/>
        </p:nvSpPr>
        <p:spPr>
          <a:xfrm>
            <a:off x="8641080" y="3227832"/>
            <a:ext cx="2788920" cy="822960"/>
          </a:xfrm>
          <a:prstGeom prst="rect">
            <a:avLst/>
          </a:prstGeom>
          <a:noFill/>
          <a:ln/>
        </p:spPr>
        <p:txBody>
          <a:bodyPr wrap="square" lIns="0" tIns="0" rIns="0" bIns="0" rtlCol="0" anchor="ctr"/>
          <a:lstStyle/>
          <a:p>
            <a:pPr indent="0" marL="0">
              <a:buNone/>
            </a:pPr>
            <a:r>
              <a:rPr lang="en-US" sz="1100" dirty="0">
                <a:solidFill>
                  <a:schemeClr val="tx1"/>
                </a:solidFill>
              </a:rPr>
              <a:t>Dropped the capability, moved to port 8080</a:t>
            </a:r>
            <a:endParaRPr lang="en-US" sz="1100" dirty="0"/>
          </a:p>
        </p:txBody>
      </p:sp>
      <p:sp>
        <p:nvSpPr>
          <p:cNvPr id="17" name="card-0.7-4.75"/>
          <p:cNvSpPr/>
          <p:nvPr/>
        </p:nvSpPr>
        <p:spPr>
          <a:xfrm>
            <a:off x="640080" y="4343400"/>
            <a:ext cx="10972800" cy="1417320"/>
          </a:xfrm>
          <a:prstGeom prst="roundRect">
            <a:avLst>
              <a:gd name="adj" fmla="val 5161"/>
            </a:avLst>
          </a:prstGeom>
          <a:solidFill>
            <a:srgbClr val="F1F5F9"/>
          </a:solidFill>
          <a:ln w="12700">
            <a:solidFill>
              <a:srgbClr val="E2E8F0"/>
            </a:solidFill>
            <a:prstDash val="solid"/>
          </a:ln>
        </p:spPr>
      </p:sp>
      <p:sp>
        <p:nvSpPr>
          <p:cNvPr id="18" name="n2"/>
          <p:cNvSpPr/>
          <p:nvPr/>
        </p:nvSpPr>
        <p:spPr>
          <a:xfrm>
            <a:off x="868680" y="4544568"/>
            <a:ext cx="384048" cy="384048"/>
          </a:xfrm>
          <a:prstGeom prst="ellipse">
            <a:avLst/>
          </a:prstGeom>
          <a:solidFill>
            <a:srgbClr val="F59E0B"/>
          </a:solidFill>
          <a:ln w="12700">
            <a:solidFill>
              <a:srgbClr val="F59E0B"/>
            </a:solidFill>
            <a:prstDash val="solid"/>
          </a:ln>
        </p:spPr>
      </p:sp>
      <p:sp>
        <p:nvSpPr>
          <p:cNvPr id="19" name="Text 17"/>
          <p:cNvSpPr txBox="1"/>
          <p:nvPr/>
        </p:nvSpPr>
        <p:spPr>
          <a:xfrm>
            <a:off x="868680" y="454456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20" name="Text 18"/>
          <p:cNvSpPr txBox="1"/>
          <p:nvPr/>
        </p:nvSpPr>
        <p:spPr>
          <a:xfrm>
            <a:off x="1417320" y="4507992"/>
            <a:ext cx="6400800" cy="292608"/>
          </a:xfrm>
          <a:prstGeom prst="rect">
            <a:avLst/>
          </a:prstGeom>
          <a:noFill/>
          <a:ln/>
        </p:spPr>
        <p:txBody>
          <a:bodyPr wrap="square" lIns="0" tIns="0" rIns="0" bIns="0" rtlCol="0" anchor="ctr"/>
          <a:lstStyle/>
          <a:p>
            <a:pPr indent="0" marL="0">
              <a:buNone/>
            </a:pPr>
            <a:r>
              <a:rPr lang="en-US" sz="1500" b="1" dirty="0">
                <a:solidFill>
                  <a:schemeClr val="tx1"/>
                </a:solidFill>
              </a:rPr>
              <a:t>502 with a healthy backend</a:t>
            </a:r>
            <a:endParaRPr lang="en-US" sz="1500" dirty="0"/>
          </a:p>
        </p:txBody>
      </p:sp>
      <p:sp>
        <p:nvSpPr>
          <p:cNvPr id="21" name="Text 19"/>
          <p:cNvSpPr txBox="1"/>
          <p:nvPr/>
        </p:nvSpPr>
        <p:spPr>
          <a:xfrm>
            <a:off x="1417320" y="4846320"/>
            <a:ext cx="6949440" cy="868680"/>
          </a:xfrm>
          <a:prstGeom prst="rect">
            <a:avLst/>
          </a:prstGeom>
          <a:noFill/>
          <a:ln/>
        </p:spPr>
        <p:txBody>
          <a:bodyPr wrap="square" lIns="0" tIns="0" rIns="0" bIns="0" rtlCol="0" anchor="ctr"/>
          <a:lstStyle/>
          <a:p>
            <a:pPr indent="0" marL="0">
              <a:buNone/>
            </a:pPr>
            <a:r>
              <a:rPr lang="en-US" sz="1100" dirty="0">
                <a:solidFill>
                  <a:srgbClr val="64748B"/>
                </a:solidFill>
              </a:rPr>
              <a:t>The proxy forwarded the browser's Host header upstream, and a variable proxy_pass sends no SNI. A platform routing by Host with TLS termination could do neither.</a:t>
            </a:r>
            <a:endParaRPr lang="en-US" sz="1100" dirty="0"/>
          </a:p>
        </p:txBody>
      </p:sp>
      <p:sp>
        <p:nvSpPr>
          <p:cNvPr id="22" name="Text 20"/>
          <p:cNvSpPr txBox="1"/>
          <p:nvPr/>
        </p:nvSpPr>
        <p:spPr>
          <a:xfrm>
            <a:off x="8641080" y="4526280"/>
            <a:ext cx="2743200" cy="228600"/>
          </a:xfrm>
          <a:prstGeom prst="rect">
            <a:avLst/>
          </a:prstGeom>
          <a:noFill/>
          <a:ln/>
        </p:spPr>
        <p:txBody>
          <a:bodyPr wrap="square" lIns="0" tIns="0" rIns="0" bIns="0" rtlCol="0" anchor="ctr"/>
          <a:lstStyle/>
          <a:p>
            <a:pPr indent="0" marL="0">
              <a:buNone/>
            </a:pPr>
            <a:r>
              <a:rPr lang="en-US" sz="900" b="1" spc="100" kern="0" dirty="0">
                <a:solidFill>
                  <a:srgbClr val="0EA5A4"/>
                </a:solidFill>
              </a:rPr>
              <a:t>FIX</a:t>
            </a:r>
            <a:endParaRPr lang="en-US" sz="900" dirty="0"/>
          </a:p>
        </p:txBody>
      </p:sp>
      <p:sp>
        <p:nvSpPr>
          <p:cNvPr id="23" name="Text 21"/>
          <p:cNvSpPr txBox="1"/>
          <p:nvPr/>
        </p:nvSpPr>
        <p:spPr>
          <a:xfrm>
            <a:off x="8641080" y="4782312"/>
            <a:ext cx="2788920" cy="822960"/>
          </a:xfrm>
          <a:prstGeom prst="rect">
            <a:avLst/>
          </a:prstGeom>
          <a:noFill/>
          <a:ln/>
        </p:spPr>
        <p:txBody>
          <a:bodyPr wrap="square" lIns="0" tIns="0" rIns="0" bIns="0" rtlCol="0" anchor="ctr"/>
          <a:lstStyle/>
          <a:p>
            <a:pPr indent="0" marL="0">
              <a:buNone/>
            </a:pPr>
            <a:r>
              <a:rPr lang="en-US" sz="1100" dirty="0">
                <a:solidFill>
                  <a:schemeClr val="tx1"/>
                </a:solidFill>
              </a:rPr>
              <a:t>Host $proxy_host, proxy_ssl_server_name on</a:t>
            </a:r>
            <a:endParaRPr lang="en-US" sz="1100" dirty="0"/>
          </a:p>
        </p:txBody>
      </p:sp>
      <p:sp>
        <p:nvSpPr>
          <p:cNvPr id="24" name="Text 22"/>
          <p:cNvSpPr txBox="1"/>
          <p:nvPr/>
        </p:nvSpPr>
        <p:spPr>
          <a:xfrm>
            <a:off x="640080" y="5961888"/>
            <a:ext cx="10972800" cy="274320"/>
          </a:xfrm>
          <a:prstGeom prst="rect">
            <a:avLst/>
          </a:prstGeom>
          <a:noFill/>
          <a:ln/>
        </p:spPr>
        <p:txBody>
          <a:bodyPr wrap="square" lIns="0" tIns="0" rIns="0" bIns="0" rtlCol="0" anchor="ctr"/>
          <a:lstStyle/>
          <a:p>
            <a:pPr indent="0" marL="0">
              <a:buNone/>
            </a:pPr>
            <a:r>
              <a:rPr lang="en-US" sz="1100" i="1" dirty="0">
                <a:solidFill>
                  <a:srgbClr val="64748B"/>
                </a:solidFill>
              </a:rPr>
              <a:t>None of the three is visible when the backend is plain HTTP on the same network — which is exactly why the cluster never surfaced them.</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371600"/>
          </a:xfrm>
          <a:prstGeom prst="rect">
            <a:avLst/>
          </a:prstGeom>
          <a:noFill/>
          <a:ln/>
        </p:spPr>
        <p:txBody>
          <a:bodyPr wrap="square" rtlCol="0"/>
          <a:lstStyle/>
          <a:p>
            <a:pPr algn="l" indent="0" marL="0">
              <a:buNone/>
            </a:pPr>
            <a:r>
              <a:rPr lang="en-US" sz="4800" b="1" dirty="0">
                <a:solidFill>
                  <a:schemeClr val="bg1"/>
                </a:solidFill>
              </a:rPr>
              <a:t>Where it stands</a:t>
            </a:r>
            <a:endParaRPr lang="en-US" sz="4800" dirty="0"/>
          </a:p>
        </p:txBody>
      </p:sp>
      <p:sp>
        <p:nvSpPr>
          <p:cNvPr id="3" name="Text 0"/>
          <p:cNvSpPr/>
          <p:nvPr>
            <p:ph idx="101" type="body" hasCustomPrompt="1"/>
          </p:nvPr>
        </p:nvSpPr>
        <p:spPr>
          <a:xfrm>
            <a:off x="868680" y="3703320"/>
            <a:ext cx="10515600" cy="1463040"/>
          </a:xfrm>
          <a:prstGeom prst="rect">
            <a:avLst/>
          </a:prstGeom>
          <a:noFill/>
          <a:ln/>
        </p:spPr>
        <p:txBody>
          <a:bodyPr wrap="square" rtlCol="0"/>
          <a:lstStyle/>
          <a:p>
            <a:pPr indent="0" marL="0">
              <a:buNone/>
            </a:pPr>
            <a:r>
              <a:rPr lang="en-US" sz="1700" dirty="0">
                <a:solidFill>
                  <a:srgbClr val="CBD5E1"/>
                </a:solidFill>
              </a:rPr>
              <a:t>github.com/AmanYadav7015/devops-capstone-servicedesk</a:t>
            </a:r>
            <a:endParaRPr lang="en-US" sz="1700" dirty="0"/>
          </a:p>
        </p:txBody>
      </p:sp>
      <p:sp>
        <p:nvSpPr>
          <p:cNvPr id="4" name="Text 2"/>
          <p:cNvSpPr txBox="1"/>
          <p:nvPr/>
        </p:nvSpPr>
        <p:spPr>
          <a:xfrm>
            <a:off x="868680" y="4800600"/>
            <a:ext cx="2377440" cy="594360"/>
          </a:xfrm>
          <a:prstGeom prst="rect">
            <a:avLst/>
          </a:prstGeom>
          <a:noFill/>
          <a:ln/>
        </p:spPr>
        <p:txBody>
          <a:bodyPr wrap="square" lIns="0" tIns="0" rIns="0" bIns="0" rtlCol="0" anchor="ctr"/>
          <a:lstStyle/>
          <a:p>
            <a:pPr indent="0" marL="0">
              <a:buNone/>
            </a:pPr>
            <a:r>
              <a:rPr lang="en-US" sz="3400" b="1" dirty="0">
                <a:solidFill>
                  <a:srgbClr val="0EA5A4"/>
                </a:solidFill>
              </a:rPr>
              <a:t>53</a:t>
            </a:r>
            <a:endParaRPr lang="en-US" sz="3400" dirty="0"/>
          </a:p>
        </p:txBody>
      </p:sp>
      <p:sp>
        <p:nvSpPr>
          <p:cNvPr id="5" name="Text 3"/>
          <p:cNvSpPr txBox="1"/>
          <p:nvPr/>
        </p:nvSpPr>
        <p:spPr>
          <a:xfrm>
            <a:off x="868680" y="5394960"/>
            <a:ext cx="2377440" cy="274320"/>
          </a:xfrm>
          <a:prstGeom prst="rect">
            <a:avLst/>
          </a:prstGeom>
          <a:noFill/>
          <a:ln/>
        </p:spPr>
        <p:txBody>
          <a:bodyPr wrap="square" lIns="0" tIns="0" rIns="0" bIns="0" rtlCol="0" anchor="ctr"/>
          <a:lstStyle/>
          <a:p>
            <a:pPr indent="0" marL="0">
              <a:buNone/>
            </a:pPr>
            <a:r>
              <a:rPr lang="en-US" sz="1200" dirty="0">
                <a:solidFill>
                  <a:srgbClr val="CBD5E1"/>
                </a:solidFill>
              </a:rPr>
              <a:t>commits</a:t>
            </a:r>
            <a:endParaRPr lang="en-US" sz="1200" dirty="0"/>
          </a:p>
        </p:txBody>
      </p:sp>
      <p:sp>
        <p:nvSpPr>
          <p:cNvPr id="6" name="Text 4"/>
          <p:cNvSpPr txBox="1"/>
          <p:nvPr/>
        </p:nvSpPr>
        <p:spPr>
          <a:xfrm>
            <a:off x="3520440" y="4800600"/>
            <a:ext cx="2377440" cy="594360"/>
          </a:xfrm>
          <a:prstGeom prst="rect">
            <a:avLst/>
          </a:prstGeom>
          <a:noFill/>
          <a:ln/>
        </p:spPr>
        <p:txBody>
          <a:bodyPr wrap="square" lIns="0" tIns="0" rIns="0" bIns="0" rtlCol="0" anchor="ctr"/>
          <a:lstStyle/>
          <a:p>
            <a:pPr indent="0" marL="0">
              <a:buNone/>
            </a:pPr>
            <a:r>
              <a:rPr lang="en-US" sz="3400" b="1" dirty="0">
                <a:solidFill>
                  <a:srgbClr val="0EA5A4"/>
                </a:solidFill>
              </a:rPr>
              <a:t>40</a:t>
            </a:r>
            <a:endParaRPr lang="en-US" sz="3400" dirty="0"/>
          </a:p>
        </p:txBody>
      </p:sp>
      <p:sp>
        <p:nvSpPr>
          <p:cNvPr id="7" name="Text 5"/>
          <p:cNvSpPr txBox="1"/>
          <p:nvPr/>
        </p:nvSpPr>
        <p:spPr>
          <a:xfrm>
            <a:off x="3520440" y="5394960"/>
            <a:ext cx="2377440" cy="274320"/>
          </a:xfrm>
          <a:prstGeom prst="rect">
            <a:avLst/>
          </a:prstGeom>
          <a:noFill/>
          <a:ln/>
        </p:spPr>
        <p:txBody>
          <a:bodyPr wrap="square" lIns="0" tIns="0" rIns="0" bIns="0" rtlCol="0" anchor="ctr"/>
          <a:lstStyle/>
          <a:p>
            <a:pPr indent="0" marL="0">
              <a:buNone/>
            </a:pPr>
            <a:r>
              <a:rPr lang="en-US" sz="1200" dirty="0">
                <a:solidFill>
                  <a:srgbClr val="CBD5E1"/>
                </a:solidFill>
              </a:rPr>
              <a:t>tests</a:t>
            </a:r>
            <a:endParaRPr lang="en-US" sz="1200" dirty="0"/>
          </a:p>
        </p:txBody>
      </p:sp>
      <p:sp>
        <p:nvSpPr>
          <p:cNvPr id="8" name="Text 6"/>
          <p:cNvSpPr txBox="1"/>
          <p:nvPr/>
        </p:nvSpPr>
        <p:spPr>
          <a:xfrm>
            <a:off x="6172200" y="4800600"/>
            <a:ext cx="2377440" cy="594360"/>
          </a:xfrm>
          <a:prstGeom prst="rect">
            <a:avLst/>
          </a:prstGeom>
          <a:noFill/>
          <a:ln/>
        </p:spPr>
        <p:txBody>
          <a:bodyPr wrap="square" lIns="0" tIns="0" rIns="0" bIns="0" rtlCol="0" anchor="ctr"/>
          <a:lstStyle/>
          <a:p>
            <a:pPr indent="0" marL="0">
              <a:buNone/>
            </a:pPr>
            <a:r>
              <a:rPr lang="en-US" sz="3400" b="1" dirty="0">
                <a:solidFill>
                  <a:srgbClr val="0EA5A4"/>
                </a:solidFill>
              </a:rPr>
              <a:t>11</a:t>
            </a:r>
            <a:endParaRPr lang="en-US" sz="3400" dirty="0"/>
          </a:p>
        </p:txBody>
      </p:sp>
      <p:sp>
        <p:nvSpPr>
          <p:cNvPr id="9" name="Text 7"/>
          <p:cNvSpPr txBox="1"/>
          <p:nvPr/>
        </p:nvSpPr>
        <p:spPr>
          <a:xfrm>
            <a:off x="6172200" y="5394960"/>
            <a:ext cx="2377440" cy="274320"/>
          </a:xfrm>
          <a:prstGeom prst="rect">
            <a:avLst/>
          </a:prstGeom>
          <a:noFill/>
          <a:ln/>
        </p:spPr>
        <p:txBody>
          <a:bodyPr wrap="square" lIns="0" tIns="0" rIns="0" bIns="0" rtlCol="0" anchor="ctr"/>
          <a:lstStyle/>
          <a:p>
            <a:pPr indent="0" marL="0">
              <a:buNone/>
            </a:pPr>
            <a:r>
              <a:rPr lang="en-US" sz="1200" dirty="0">
                <a:solidFill>
                  <a:srgbClr val="CBD5E1"/>
                </a:solidFill>
              </a:rPr>
              <a:t>helm revisions</a:t>
            </a:r>
            <a:endParaRPr lang="en-US" sz="1200" dirty="0"/>
          </a:p>
        </p:txBody>
      </p:sp>
      <p:sp>
        <p:nvSpPr>
          <p:cNvPr id="10" name="Text 8"/>
          <p:cNvSpPr txBox="1"/>
          <p:nvPr/>
        </p:nvSpPr>
        <p:spPr>
          <a:xfrm>
            <a:off x="8823960" y="4800600"/>
            <a:ext cx="2377440" cy="594360"/>
          </a:xfrm>
          <a:prstGeom prst="rect">
            <a:avLst/>
          </a:prstGeom>
          <a:noFill/>
          <a:ln/>
        </p:spPr>
        <p:txBody>
          <a:bodyPr wrap="square" lIns="0" tIns="0" rIns="0" bIns="0" rtlCol="0" anchor="ctr"/>
          <a:lstStyle/>
          <a:p>
            <a:pPr indent="0" marL="0">
              <a:buNone/>
            </a:pPr>
            <a:r>
              <a:rPr lang="en-US" sz="3400" b="1" dirty="0">
                <a:solidFill>
                  <a:srgbClr val="0EA5A4"/>
                </a:solidFill>
              </a:rPr>
              <a:t>0</a:t>
            </a:r>
            <a:endParaRPr lang="en-US" sz="3400" dirty="0"/>
          </a:p>
        </p:txBody>
      </p:sp>
      <p:sp>
        <p:nvSpPr>
          <p:cNvPr id="11" name="Text 9"/>
          <p:cNvSpPr txBox="1"/>
          <p:nvPr/>
        </p:nvSpPr>
        <p:spPr>
          <a:xfrm>
            <a:off x="8823960" y="5394960"/>
            <a:ext cx="2377440" cy="274320"/>
          </a:xfrm>
          <a:prstGeom prst="rect">
            <a:avLst/>
          </a:prstGeom>
          <a:noFill/>
          <a:ln/>
        </p:spPr>
        <p:txBody>
          <a:bodyPr wrap="square" lIns="0" tIns="0" rIns="0" bIns="0" rtlCol="0" anchor="ctr"/>
          <a:lstStyle/>
          <a:p>
            <a:pPr indent="0" marL="0">
              <a:buNone/>
            </a:pPr>
            <a:r>
              <a:rPr lang="en-US" sz="1200" dirty="0">
                <a:solidFill>
                  <a:srgbClr val="CBD5E1"/>
                </a:solidFill>
              </a:rPr>
              <a:t>suppressed CVEs</a:t>
            </a:r>
            <a:endParaRPr lang="en-US" sz="1200" dirty="0"/>
          </a:p>
        </p:txBody>
      </p:sp>
    </p:spTree>
  </p:cSld>
  <p:clrMapOvr>
    <a:masterClrMapping/>
  </p:clrMapOvr>
</p:sld>
</file>

<file path=ppt/theme/theme1.xml><?xml version="1.0" encoding="utf-8"?>
<a:theme xmlns:a="http://schemas.openxmlformats.org/drawingml/2006/main" name="ServiceDesk Capstone">
  <a:themeElements>
    <a:clrScheme name="ServiceDesk Capstone">
      <a:dk1>
        <a:srgbClr val="0F172A"/>
      </a:dk1>
      <a:lt1>
        <a:srgbClr val="FFFFFF"/>
      </a:lt1>
      <a:dk2>
        <a:srgbClr val="1C7293"/>
      </a:dk2>
      <a:lt2>
        <a:srgbClr val="F1F5F9"/>
      </a:lt2>
      <a:accent1>
        <a:srgbClr val="0EA5A4"/>
      </a:accent1>
      <a:accent2>
        <a:srgbClr val="F59E0B"/>
      </a:accent2>
      <a:accent3>
        <a:srgbClr val="EF4444"/>
      </a:accent3>
      <a:accent4>
        <a:srgbClr val="22C55E"/>
      </a:accent4>
      <a:accent5>
        <a:srgbClr val="065A82"/>
      </a:accent5>
      <a:accent6>
        <a:srgbClr val="64748B"/>
      </a:accent6>
      <a:hlink>
        <a:srgbClr val="0EA5A4"/>
      </a:hlink>
      <a:folHlink>
        <a:srgbClr val="64748B"/>
      </a:folHlink>
    </a:clrScheme>
    <a:fontScheme name="ServiceDesk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ServiceDesk - DevOps Capstone</dc:title>
  <dc:subject>PptxGenJS Presentation</dc:subject>
  <dc:creator>Aman Yadav</dc:creator>
  <cp:lastModifiedBy>Aman Yadav</cp:lastModifiedBy>
  <cp:revision>1</cp:revision>
  <dcterms:created xsi:type="dcterms:W3CDTF">2026-10-15T13:19:44Z</dcterms:created>
  <dcterms:modified xsi:type="dcterms:W3CDTF">2026-10-15T13:19:44Z</dcterms:modified>
</cp:coreProperties>
</file>